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E6EDF3"/>
                </a:solidFill>
                <a:latin typeface="Calibri Light"/>
              </a:rPr>
              <a:t>One Single Source of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2200" b="0">
                <a:solidFill>
                  <a:srgbClr val="35C2C9"/>
                </a:solidFill>
                <a:latin typeface="Calibri"/>
              </a:rPr>
              <a:t>Team interconnection for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2C0"/>
                </a:solidFill>
                <a:latin typeface="Consolas"/>
              </a:rPr>
              <a:t>ODATA QR03  ·  Los Cues, El Marqués, Queretaro  ·  Turner &amp; Townsend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Three symptoms, one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9FB2C0"/>
                </a:solidFill>
                <a:latin typeface="Calibri"/>
              </a:rPr>
              <a:t>There is no single source of truth. Each team is a micro-company with its own version of reality, and nothing reconciles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5351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Isolation.  </a:t>
            </a:r>
            <a:r>
              <a:rPr sz="1350">
                <a:solidFill>
                  <a:srgbClr val="9FB2C0"/>
                </a:solidFill>
                <a:latin typeface="Calibri"/>
              </a:rPr>
              <a:t>Teams don't exchange information; you learn of a change by knocking on doors.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307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Capture chaos.  </a:t>
            </a:r>
            <a:r>
              <a:rPr sz="1350">
                <a:solidFill>
                  <a:srgbClr val="9FB2C0"/>
                </a:solidFill>
                <a:latin typeface="Calibri"/>
              </a:rPr>
              <a:t>Everyone records the same reality differently; nothing feeds a common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3484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5079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Loss.  </a:t>
            </a:r>
            <a:r>
              <a:rPr sz="1350">
                <a:solidFill>
                  <a:srgbClr val="9FB2C0"/>
                </a:solidFill>
                <a:latin typeface="Calibri"/>
              </a:rPr>
              <a:t>What's resolved is resolved; the rest dies in an email or a WhatsApp. No record to measure or 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Capture once, everyone sees the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9FB2C0"/>
                </a:solidFill>
                <a:latin typeface="Calibri"/>
              </a:rPr>
              <a:t>One granular source of truth on Microsoft. Every team writes to one place from the point of capture and reads the others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5351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Single store.  </a:t>
            </a:r>
            <a:r>
              <a:rPr sz="1350">
                <a:solidFill>
                  <a:srgbClr val="9FB2C0"/>
                </a:solidFill>
                <a:latin typeface="Calibri"/>
              </a:rPr>
              <a:t>Dataverse — one owner per data domain, a code and lineage per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307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Standard capture.  </a:t>
            </a:r>
            <a:r>
              <a:rPr sz="1350">
                <a:solidFill>
                  <a:srgbClr val="9FB2C0"/>
                </a:solidFill>
                <a:latin typeface="Calibri"/>
              </a:rPr>
              <a:t>A mobile Power App: photo + issue + location, from anywhere on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3484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5079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Live reporting.  </a:t>
            </a:r>
            <a:r>
              <a:rPr sz="1350">
                <a:solidFill>
                  <a:srgbClr val="9FB2C0"/>
                </a:solidFill>
                <a:latin typeface="Calibri"/>
              </a:rPr>
              <a:t>Power BI — manager, client and all areas see the same numbers,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From the field to the client, one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2651760" cy="173736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5C2C9"/>
                </a:solidFill>
                <a:latin typeface="Consolas"/>
              </a:rPr>
              <a:t>1 · CAPTURE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Power App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8090"/>
                </a:solidFill>
                <a:latin typeface="Calibri"/>
              </a:rPr>
              <a:t>Photo + issue + GPS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2743200"/>
            <a:ext cx="2651760" cy="173736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29260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A13A"/>
                </a:solidFill>
                <a:latin typeface="Consolas"/>
              </a:rPr>
              <a:t>2 · SOURCE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Dataverse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8090"/>
                </a:solidFill>
                <a:latin typeface="Calibri"/>
              </a:rPr>
              <a:t>One owner, code &amp; lineage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19" y="2743200"/>
            <a:ext cx="2651760" cy="173736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29260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5C2C9"/>
                </a:solidFill>
                <a:latin typeface="Consolas"/>
              </a:rPr>
              <a:t>3 · RECONCILE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Physical vs financial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8090"/>
                </a:solidFill>
                <a:latin typeface="Calibri"/>
              </a:rPr>
              <a:t>Flags discrepancies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199" y="2743200"/>
            <a:ext cx="2651760" cy="173736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9" y="29260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5C2C9"/>
                </a:solidFill>
                <a:latin typeface="Consolas"/>
              </a:rPr>
              <a:t>4 · REPORT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Power BI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8090"/>
                </a:solidFill>
                <a:latin typeface="Calibri"/>
              </a:rPr>
              <a:t>Everyone,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FB2C0"/>
                </a:solidFill>
                <a:latin typeface="Calibri"/>
              </a:rPr>
              <a:t>A parallel channel: a Power Automate bot ingests what lives in WhatsApp and email today. Process Mining measures where the process actually stalls.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THE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The system is designed, not just proposed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9FB2C0"/>
                </a:solidFill>
                <a:latin typeface="Calibri"/>
              </a:rPr>
              <a:t>From diagnosis to a complete data model: 48 tables on Dataverse, a navigable ERD, and a granular code that turns every report into a query.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5351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48 tables, 10 domains.  </a:t>
            </a:r>
            <a:r>
              <a:rPr sz="1350">
                <a:solidFill>
                  <a:srgbClr val="9FB2C0"/>
                </a:solidFill>
                <a:latin typeface="Calibri"/>
              </a:rPr>
              <a:t>Identity, AWP, planning, cost &amp; EVM, quality (commissioning L1-L5), MX invoicing, process mining - each with one owner.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307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Navigable ERD.  </a:t>
            </a:r>
            <a:r>
              <a:rPr sz="1350">
                <a:solidFill>
                  <a:srgbClr val="9FB2C0"/>
                </a:solidFill>
                <a:latin typeface="Calibri"/>
              </a:rPr>
              <a:t>The full development map: every table with its data types, primary keys and foreign keys. Interactive and zoomable.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3484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5079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Granular code.  </a:t>
            </a:r>
            <a:r>
              <a:rPr sz="1350">
                <a:solidFill>
                  <a:srgbClr val="9FB2C0"/>
                </a:solidFill>
                <a:latin typeface="Calibri"/>
              </a:rPr>
              <a:t>OBDMX-task-line: progress, cost and quality hang off the lowest measurable unit, so any report is generated, not rebuilt by hand.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THE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Every department, one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2C0"/>
                </a:solidFill>
                <a:latin typeface="Calibri"/>
              </a:rPr>
              <a:t>Each owns a data domain (its System of Record) and consumes the others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5486400" cy="77724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3405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E6EDF3"/>
                </a:solidFill>
                <a:latin typeface="Calibri"/>
              </a:rPr>
              <a:t>PMO  </a:t>
            </a:r>
            <a:r>
              <a:rPr sz="1200">
                <a:solidFill>
                  <a:srgbClr val="9FB2C0"/>
                </a:solidFill>
                <a:latin typeface="Calibri"/>
              </a:rPr>
              <a:t>Project management &amp; client 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651760"/>
            <a:ext cx="5486400" cy="77724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273405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E6EDF3"/>
                </a:solidFill>
                <a:latin typeface="Calibri"/>
              </a:rPr>
              <a:t>Cost Management  </a:t>
            </a:r>
            <a:r>
              <a:rPr sz="1200">
                <a:solidFill>
                  <a:srgbClr val="9FB2C0"/>
                </a:solidFill>
                <a:latin typeface="Calibri"/>
              </a:rPr>
              <a:t>Cost, earned value, valuations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66160"/>
            <a:ext cx="5486400" cy="77724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4845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E6EDF3"/>
                </a:solidFill>
                <a:latin typeface="Calibri"/>
              </a:rPr>
              <a:t>Planning  </a:t>
            </a:r>
            <a:r>
              <a:rPr sz="1200">
                <a:solidFill>
                  <a:srgbClr val="9FB2C0"/>
                </a:solidFill>
                <a:latin typeface="Calibri"/>
              </a:rPr>
              <a:t>Schedule &amp; AWP work packages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566160"/>
            <a:ext cx="5486400" cy="77724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64845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E6EDF3"/>
                </a:solidFill>
                <a:latin typeface="Calibri"/>
              </a:rPr>
              <a:t>Quality  </a:t>
            </a:r>
            <a:r>
              <a:rPr sz="1200">
                <a:solidFill>
                  <a:srgbClr val="9FB2C0"/>
                </a:solidFill>
                <a:latin typeface="Calibri"/>
              </a:rPr>
              <a:t>NCRs, inspections, checklists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0560"/>
            <a:ext cx="5486400" cy="77724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6285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E6EDF3"/>
                </a:solidFill>
                <a:latin typeface="Calibri"/>
              </a:rPr>
              <a:t>MEP  </a:t>
            </a:r>
            <a:r>
              <a:rPr sz="1200">
                <a:solidFill>
                  <a:srgbClr val="9FB2C0"/>
                </a:solidFill>
                <a:latin typeface="Calibri"/>
              </a:rPr>
              <a:t>Physical progress of M/E/P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480560"/>
            <a:ext cx="5486400" cy="77724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56285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E6EDF3"/>
                </a:solidFill>
                <a:latin typeface="Calibri"/>
              </a:rPr>
              <a:t>CSA  </a:t>
            </a:r>
            <a:r>
              <a:rPr sz="1200">
                <a:solidFill>
                  <a:srgbClr val="9FB2C0"/>
                </a:solidFill>
                <a:latin typeface="Calibri"/>
              </a:rPr>
              <a:t>Civil, structural, architectural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394960"/>
            <a:ext cx="5486400" cy="77724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7725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E6EDF3"/>
                </a:solidFill>
                <a:latin typeface="Calibri"/>
              </a:rPr>
              <a:t>Document Control  </a:t>
            </a:r>
            <a:r>
              <a:rPr sz="1200">
                <a:solidFill>
                  <a:srgbClr val="9FB2C0"/>
                </a:solidFill>
                <a:latin typeface="Calibri"/>
              </a:rPr>
              <a:t>Documents, versions, RFIs, lineage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5394960"/>
            <a:ext cx="5486400" cy="77724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547725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E8A13A"/>
                </a:solidFill>
                <a:latin typeface="Calibri"/>
              </a:rPr>
              <a:t>General Contractors  </a:t>
            </a:r>
            <a:r>
              <a:rPr sz="1200">
                <a:solidFill>
                  <a:srgbClr val="9FB2C0"/>
                </a:solidFill>
                <a:latin typeface="Calibri"/>
              </a:rPr>
              <a:t>External — estimates &amp; invoices via portal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DATA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We ask each area what it can give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9FB2C0"/>
                </a:solidFill>
                <a:latin typeface="Calibri"/>
              </a:rPr>
              <a:t>Before building, one instrument per department - in plain construction language - to learn, field by field, what data each area can populate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5351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8 printable forms.  </a:t>
            </a:r>
            <a:r>
              <a:rPr sz="1350">
                <a:solidFill>
                  <a:srgbClr val="9FB2C0"/>
                </a:solidFill>
                <a:latin typeface="Calibri"/>
              </a:rPr>
              <a:t>One per department (PMO, Cost, Planning, Quality, MEP, CSA, Doc Control, GCs). No jargon, no table names.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307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Field by field.  </a:t>
            </a:r>
            <a:r>
              <a:rPr sz="1350">
                <a:solidFill>
                  <a:srgbClr val="9FB2C0"/>
                </a:solidFill>
                <a:latin typeface="Calibri"/>
              </a:rPr>
              <a:t>Each data point with its format, marked: we have it / can get it / not possible / to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3484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5079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Print, fill, scan, return.  </a:t>
            </a:r>
            <a:r>
              <a:rPr sz="1350">
                <a:solidFill>
                  <a:srgbClr val="9FB2C0"/>
                </a:solidFill>
                <a:latin typeface="Calibri"/>
              </a:rPr>
              <a:t>The result tells us what can start day one, what to build, and what is out of reach with today's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THE 40 / 25 / 80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Two truths, both labeled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2C0"/>
                </a:solidFill>
                <a:latin typeface="Calibri"/>
              </a:rPr>
              <a:t>The GC reports 40%, site 25%, cost 80%. They don't lie — they measure different dimensions and no one labels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26080"/>
            <a:ext cx="5212080" cy="201168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FBF8B"/>
                </a:solidFill>
                <a:latin typeface="Consolas"/>
              </a:rPr>
              <a:t>PHYSICAL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2C0"/>
                </a:solidFill>
                <a:latin typeface="Calibri"/>
              </a:rPr>
              <a:t>Work-in-place, verified. Credited by the field (MEP/CSA), and only when the package meets its AWP rule: installed, not estimated.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926080"/>
            <a:ext cx="5029200" cy="201168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15468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A13A"/>
                </a:solidFill>
                <a:latin typeface="Consolas"/>
              </a:rPr>
              <a:t>FINANCIAL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2C0"/>
                </a:solidFill>
                <a:latin typeface="Calibri"/>
              </a:rPr>
              <a:t>Earned value / cost. Credited by Cost Management on its own basis, without pretending it is physical progress.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FB2C0"/>
                </a:solidFill>
                <a:latin typeface="Calibri"/>
              </a:rPr>
              <a:t>Each number carries its label and its owner. When financial runs ahead of physical, the system flags the discrepancy — the missing validation of who is closest to reality.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EXTERNAL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General Contractors, without the chaos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9FB2C0"/>
                </a:solidFill>
                <a:latin typeface="Calibri"/>
              </a:rPr>
              <a:t>GCs stay outside the tenant, but their progress and money enter the same model — coded, traceable, and validated against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5351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Estimates portal.  </a:t>
            </a:r>
            <a:r>
              <a:rPr sz="1350">
                <a:solidFill>
                  <a:srgbClr val="9FB2C0"/>
                </a:solidFill>
                <a:latin typeface="Calibri"/>
              </a:rPr>
              <a:t>A Power Pages form where the GC submits progress by front/package — tagged by dimension and owner.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307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Invoice upload.  </a:t>
            </a:r>
            <a:r>
              <a:rPr sz="1350">
                <a:solidFill>
                  <a:srgbClr val="9FB2C0"/>
                </a:solidFill>
                <a:latin typeface="Calibri"/>
              </a:rPr>
              <a:t>The GC uploads its CFDI (PDF/XML); a flow reads it, links it to the estimate and package, and routes it to Cost approval.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34840"/>
            <a:ext cx="10515600" cy="65836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5079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Calibri"/>
              </a:rPr>
              <a:t>Reconciled, not trusted.  </a:t>
            </a:r>
            <a:r>
              <a:rPr sz="1350">
                <a:solidFill>
                  <a:srgbClr val="9FB2C0"/>
                </a:solidFill>
                <a:latin typeface="Calibri"/>
              </a:rPr>
              <a:t>Their 40% is reconciled against the field's physical progress instead of accepted blindly.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BUILT ON MICROSOFT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100% Power Platform, in the client 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2C0"/>
                </a:solidFill>
                <a:latin typeface="Calibri"/>
              </a:rPr>
              <a:t>One reversible solution. No new tools to learn outside the ecosystem they already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2121408" cy="173736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18470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C2C9"/>
                </a:solidFill>
                <a:latin typeface="Calibri"/>
              </a:rPr>
              <a:t>Dataverse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2C0"/>
                </a:solidFill>
                <a:latin typeface="Calibri"/>
              </a:rPr>
              <a:t>Single source of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834640"/>
            <a:ext cx="2121408" cy="173736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3063240"/>
            <a:ext cx="18470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C2C9"/>
                </a:solidFill>
                <a:latin typeface="Calibri"/>
              </a:rPr>
              <a:t>Power Apps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2C0"/>
                </a:solidFill>
                <a:latin typeface="Calibri"/>
              </a:rPr>
              <a:t>Standard mobile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834640"/>
            <a:ext cx="2121408" cy="173736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3063240"/>
            <a:ext cx="18470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C2C9"/>
                </a:solidFill>
                <a:latin typeface="Calibri"/>
              </a:rPr>
              <a:t>Power Automate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2C0"/>
                </a:solidFill>
                <a:latin typeface="Calibri"/>
              </a:rPr>
              <a:t>Ingest, approvals, Process Mining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834640"/>
            <a:ext cx="2121408" cy="173736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063240"/>
            <a:ext cx="18470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C2C9"/>
                </a:solidFill>
                <a:latin typeface="Calibri"/>
              </a:rPr>
              <a:t>Power BI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2C0"/>
                </a:solidFill>
                <a:latin typeface="Calibri"/>
              </a:rPr>
              <a:t>Live dashboards &amp; client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2834640"/>
            <a:ext cx="2121408" cy="173736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04120" y="3063240"/>
            <a:ext cx="18470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C2C9"/>
                </a:solidFill>
                <a:latin typeface="Calibri"/>
              </a:rPr>
              <a:t>Power Pages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2C0"/>
                </a:solidFill>
                <a:latin typeface="Calibri"/>
              </a:rPr>
              <a:t>External GC portal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92040"/>
            <a:ext cx="10515600" cy="123444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35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5C2C9"/>
                </a:solidFill>
                <a:latin typeface="Calibri"/>
              </a:rPr>
              <a:t>The differentiator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2C0"/>
                </a:solidFill>
                <a:latin typeface="Calibri"/>
              </a:rPr>
              <a:t>With the right granularity, any report format the client asks for is generated as a query over the data — not a document someone rebuilds by hand. We own the granular truth; reports are derivations.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ROLLOUT · UNDER 2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Live for the new construction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10312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35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140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5C2C9"/>
                </a:solidFill>
                <a:latin typeface="Consolas"/>
              </a:rPr>
              <a:t>Weeks 1-2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0"/>
            <a:ext cx="822960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240487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2C0"/>
                </a:solidFill>
                <a:latin typeface="Calibri"/>
              </a:rPr>
              <a:t>Foundation &amp; pilot — data model, capture app, 2 pilot departments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44368"/>
            <a:ext cx="210312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35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238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5C2C9"/>
                </a:solidFill>
                <a:latin typeface="Consolas"/>
              </a:rPr>
              <a:t>Weeks 3-4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944368"/>
            <a:ext cx="822960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3063239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2C0"/>
                </a:solidFill>
                <a:latin typeface="Calibri"/>
              </a:rPr>
              <a:t>Department rollout — PMO, Planning, Quality, MEP, CSA, Doc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02735"/>
            <a:ext cx="210312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35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3075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5C2C9"/>
                </a:solidFill>
                <a:latin typeface="Consolas"/>
              </a:rPr>
              <a:t>Week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602735"/>
            <a:ext cx="822960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721607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2C0"/>
                </a:solidFill>
                <a:latin typeface="Calibri"/>
              </a:rPr>
              <a:t>GC portal — estimates + CFDI invoice upload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61103"/>
            <a:ext cx="210312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35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8911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5C2C9"/>
                </a:solidFill>
                <a:latin typeface="Consolas"/>
              </a:rPr>
              <a:t>Week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4261103"/>
            <a:ext cx="822960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379975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2C0"/>
                </a:solidFill>
                <a:latin typeface="Calibri"/>
              </a:rPr>
              <a:t>Reporting — Power BI dashboards, DAX by dimension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919471"/>
            <a:ext cx="210312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35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4748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5C2C9"/>
                </a:solidFill>
                <a:latin typeface="Consolas"/>
              </a:rPr>
              <a:t>Week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4919471"/>
            <a:ext cx="822960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5038343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2C0"/>
                </a:solidFill>
                <a:latin typeface="Calibri"/>
              </a:rPr>
              <a:t>Process &amp; hardening — Process Mining, testing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77839"/>
            <a:ext cx="210312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35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705855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5C2C9"/>
                </a:solidFill>
                <a:latin typeface="Consolas"/>
              </a:rPr>
              <a:t>Week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5577839"/>
            <a:ext cx="8229600" cy="566928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5696711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2C0"/>
                </a:solidFill>
                <a:latin typeface="Calibri"/>
              </a:rPr>
              <a:t>Training &amp; handover — per-department training, operation manuals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910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8090"/>
                </a:solidFill>
                <a:latin typeface="Calibri"/>
              </a:rPr>
              <a:t>These 8 weeks are Phase 1 (the MVP): the core that interconnects and reconciles. The full correct system (constraints, full EVM, L1-L5 commissioning, process mining) rolls out in following phases.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C2C9"/>
                </a:solidFill>
                <a:latin typeface="Consolas"/>
              </a:rPr>
              <a:t>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Calibri Light"/>
              </a:rPr>
              <a:t>Lean to start, scales with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FB2C0"/>
                </a:solidFill>
                <a:latin typeface="Calibri"/>
              </a:rPr>
              <a:t>List prices, Microsoft 2026. To validate against the client's existing licensing.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10515600" cy="50292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Power Apps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8090"/>
                </a:solidFill>
                <a:latin typeface="Calibri"/>
              </a:rPr>
              <a:t>$20 / user x ~40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9FB2C0"/>
                </a:solidFill>
                <a:latin typeface="Consolas"/>
              </a:rPr>
              <a:t>~$800 / 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73552"/>
            <a:ext cx="10515600" cy="50292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649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Power Automate Pro (incl. Process Mining)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649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8090"/>
                </a:solidFill>
                <a:latin typeface="Calibri"/>
              </a:rPr>
              <a:t>$220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3649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9FB2C0"/>
                </a:solidFill>
                <a:latin typeface="Consolas"/>
              </a:rPr>
              <a:t>~$18 / 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49624"/>
            <a:ext cx="10515600" cy="50292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41063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Power Pages (GC portal)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41063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8090"/>
                </a:solidFill>
                <a:latin typeface="Calibri"/>
              </a:rPr>
              <a:t>site + auth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941063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9FB2C0"/>
                </a:solidFill>
                <a:latin typeface="Consolas"/>
              </a:rPr>
              <a:t>~$250 / 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25696"/>
            <a:ext cx="10515600" cy="50292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171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Power BI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171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8090"/>
                </a:solidFill>
                <a:latin typeface="Calibri"/>
              </a:rPr>
              <a:t>$14 / user x ~15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51713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9FB2C0"/>
                </a:solidFill>
                <a:latin typeface="Consolas"/>
              </a:rPr>
              <a:t>~$210 / 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01768"/>
            <a:ext cx="10515600" cy="50292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1F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9320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Dataverse (DB + files)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93207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8090"/>
                </a:solidFill>
                <a:latin typeface="Calibri"/>
              </a:rPr>
              <a:t>mostly included by licenses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5093207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9FB2C0"/>
                </a:solidFill>
                <a:latin typeface="Consolas"/>
              </a:rPr>
              <a:t>~$0-150 / 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111A22"/>
          </a:solidFill>
          <a:ln w="9525">
            <a:solidFill>
              <a:srgbClr val="35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6692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5C2C9"/>
                </a:solidFill>
                <a:latin typeface="Calibri"/>
              </a:rPr>
              <a:t>Operating total (to start)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669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8090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66927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35C2C9"/>
                </a:solidFill>
                <a:latin typeface="Consolas"/>
              </a:rPr>
              <a:t>~$1,278 / 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8090"/>
                </a:solidFill>
                <a:latin typeface="Calibri"/>
              </a:rPr>
              <a:t>Development absorbed if built in-house. Process Mining is no longer the $5,000/mo add-on.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6EDF3"/>
                </a:solidFill>
                <a:latin typeface="Calibri Light"/>
              </a:rPr>
              <a:t>From knocking on doors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35C2C9"/>
                </a:solidFill>
                <a:latin typeface="Calibri Light"/>
              </a:rPr>
              <a:t>to one truth everyone speaks.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2C0"/>
                </a:solidFill>
                <a:latin typeface="Consolas"/>
              </a:rPr>
              <a:t>ODATA QR03  ·  Turner &amp; Townsend  ·  Built on Microsoft Power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