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4479"/>
        </a:solidFill>
        <a:effectLst/>
      </p:bgPr>
    </p:bg>
    <p:spTree>
      <p:nvGrpSpPr>
        <p:cNvPr id="1" name=""/>
        <p:cNvGrpSpPr/>
        <p:nvPr/>
      </p:nvGrpSpPr>
      <p:grpSpPr/>
      <p:sp>
        <p:nvSpPr>
          <p:cNvPr id="2" name="Rounded Rectangle 1"/>
          <p:cNvSpPr/>
          <p:nvPr/>
        </p:nvSpPr>
        <p:spPr>
          <a:xfrm>
            <a:off x="0" y="0"/>
            <a:ext cx="12191695" cy="146304"/>
          </a:xfrm>
          <a:prstGeom prst="roundRect">
            <a:avLst>
              <a:gd name="adj" fmla="val 0"/>
            </a:avLst>
          </a:prstGeom>
          <a:solidFill>
            <a:srgbClr val="009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60120"/>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80C8EE"/>
                </a:solidFill>
                <a:latin typeface="Arial"/>
              </a:rPr>
              <a:t>TURNER &amp; TOWNSEND      ·      ODATA QR03</a:t>
            </a:r>
          </a:p>
        </p:txBody>
      </p:sp>
      <p:sp>
        <p:nvSpPr>
          <p:cNvPr id="4" name="TextBox 3"/>
          <p:cNvSpPr txBox="1"/>
          <p:nvPr/>
        </p:nvSpPr>
        <p:spPr>
          <a:xfrm>
            <a:off x="822960" y="1965960"/>
            <a:ext cx="10424160" cy="2377440"/>
          </a:xfrm>
          <a:prstGeom prst="rect">
            <a:avLst/>
          </a:prstGeom>
          <a:noFill/>
        </p:spPr>
        <p:txBody>
          <a:bodyPr wrap="square" anchor="t" lIns="0" rIns="0" tIns="0" bIns="0">
            <a:spAutoFit/>
          </a:bodyPr>
          <a:lstStyle/>
          <a:p>
            <a:pPr algn="l">
              <a:spcBef>
                <a:spcPts val="0"/>
              </a:spcBef>
              <a:spcAft>
                <a:spcPts val="200"/>
              </a:spcAft>
            </a:pPr>
            <a:r>
              <a:rPr sz="5400" b="1" i="0">
                <a:solidFill>
                  <a:srgbClr val="FFFFFF"/>
                </a:solidFill>
                <a:latin typeface="Arial"/>
              </a:rPr>
              <a:t>One platform.</a:t>
            </a:r>
          </a:p>
          <a:p>
            <a:pPr algn="l">
              <a:spcBef>
                <a:spcPts val="0"/>
              </a:spcBef>
              <a:spcAft>
                <a:spcPts val="200"/>
              </a:spcAft>
            </a:pPr>
            <a:r>
              <a:rPr sz="5400" b="1" i="0">
                <a:solidFill>
                  <a:srgbClr val="FFFFFF"/>
                </a:solidFill>
                <a:latin typeface="Arial"/>
              </a:rPr>
              <a:t>One truth.</a:t>
            </a:r>
          </a:p>
        </p:txBody>
      </p:sp>
      <p:sp>
        <p:nvSpPr>
          <p:cNvPr id="5" name="TextBox 4"/>
          <p:cNvSpPr txBox="1"/>
          <p:nvPr/>
        </p:nvSpPr>
        <p:spPr>
          <a:xfrm>
            <a:off x="822960" y="4343400"/>
            <a:ext cx="9692640" cy="1280160"/>
          </a:xfrm>
          <a:prstGeom prst="rect">
            <a:avLst/>
          </a:prstGeom>
          <a:noFill/>
        </p:spPr>
        <p:txBody>
          <a:bodyPr wrap="square" anchor="t" lIns="0" rIns="0" tIns="0" bIns="0">
            <a:spAutoFit/>
          </a:bodyPr>
          <a:lstStyle/>
          <a:p>
            <a:pPr algn="l">
              <a:spcBef>
                <a:spcPts val="0"/>
              </a:spcBef>
              <a:spcAft>
                <a:spcPts val="400"/>
              </a:spcAft>
            </a:pPr>
            <a:r>
              <a:rPr sz="2100" b="0" i="0">
                <a:solidFill>
                  <a:srgbClr val="A5B4C9"/>
                </a:solidFill>
                <a:latin typeface="Arial"/>
              </a:rPr>
              <a:t>One place that holds the truth for all eight teams on the project — built for this build, ready to grow, and already real.</a:t>
            </a:r>
          </a:p>
        </p:txBody>
      </p:sp>
      <p:sp>
        <p:nvSpPr>
          <p:cNvPr id="6" name="TextBox 5"/>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A5B4C9"/>
                </a:solidFill>
                <a:latin typeface="Arial"/>
              </a:rPr>
              <a:t>Turner &amp; Townsend    ·    ODATA QR03    ·    Confidential</a:t>
            </a:r>
          </a:p>
        </p:txBody>
      </p:sp>
      <p:sp>
        <p:nvSpPr>
          <p:cNvPr id="7" name="TextBox 6"/>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A5B4C9"/>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EEE7"/>
        </a:solidFill>
        <a:effectLst/>
      </p:bgPr>
    </p:bg>
    <p:spTree>
      <p:nvGrpSpPr>
        <p:cNvPr id="1" name=""/>
        <p:cNvGrpSpPr/>
        <p:nvPr/>
      </p:nvGrpSpPr>
      <p:grpSpPr/>
      <p:sp>
        <p:nvSpPr>
          <p:cNvPr id="2" name="TextBox 1"/>
          <p:cNvSpPr txBox="1"/>
          <p:nvPr/>
        </p:nvSpPr>
        <p:spPr>
          <a:xfrm>
            <a:off x="822960" y="685800"/>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0090DC"/>
                </a:solidFill>
                <a:latin typeface="Arial"/>
              </a:rPr>
              <a:t>WHAT WE SAW ON SITE</a:t>
            </a:r>
          </a:p>
        </p:txBody>
      </p:sp>
      <p:sp>
        <p:nvSpPr>
          <p:cNvPr id="3" name="TextBox 2"/>
          <p:cNvSpPr txBox="1"/>
          <p:nvPr/>
        </p:nvSpPr>
        <p:spPr>
          <a:xfrm>
            <a:off x="822960" y="1051560"/>
            <a:ext cx="10515600" cy="822960"/>
          </a:xfrm>
          <a:prstGeom prst="rect">
            <a:avLst/>
          </a:prstGeom>
          <a:noFill/>
        </p:spPr>
        <p:txBody>
          <a:bodyPr wrap="square" anchor="t" lIns="0" rIns="0" tIns="0" bIns="0">
            <a:spAutoFit/>
          </a:bodyPr>
          <a:lstStyle/>
          <a:p>
            <a:pPr algn="l">
              <a:spcBef>
                <a:spcPts val="0"/>
              </a:spcBef>
              <a:spcAft>
                <a:spcPts val="400"/>
              </a:spcAft>
            </a:pPr>
            <a:r>
              <a:rPr sz="3600" b="1" i="0">
                <a:solidFill>
                  <a:srgbClr val="182A40"/>
                </a:solidFill>
                <a:latin typeface="Arial"/>
              </a:rPr>
              <a:t>Eight teams, eight islands</a:t>
            </a:r>
          </a:p>
        </p:txBody>
      </p:sp>
      <p:sp>
        <p:nvSpPr>
          <p:cNvPr id="4" name="Rounded Rectangle 3"/>
          <p:cNvSpPr/>
          <p:nvPr/>
        </p:nvSpPr>
        <p:spPr>
          <a:xfrm>
            <a:off x="822960" y="2148840"/>
            <a:ext cx="3410712" cy="2880360"/>
          </a:xfrm>
          <a:prstGeom prst="roundRect">
            <a:avLst>
              <a:gd name="adj" fmla="val 9000"/>
            </a:avLst>
          </a:prstGeom>
          <a:solidFill>
            <a:srgbClr val="1E44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800"/>
              </a:spcAft>
            </a:pPr>
            <a:r>
              <a:rPr sz="1200" b="1" i="0">
                <a:solidFill>
                  <a:srgbClr val="80C8EE"/>
                </a:solidFill>
                <a:latin typeface="Arial"/>
              </a:rPr>
              <a:t>ISOLATION</a:t>
            </a:r>
          </a:p>
          <a:p>
            <a:pPr algn="l">
              <a:spcBef>
                <a:spcPts val="0"/>
              </a:spcBef>
              <a:spcAft>
                <a:spcPts val="800"/>
              </a:spcAft>
            </a:pPr>
            <a:r>
              <a:rPr sz="1850" b="1" i="0">
                <a:solidFill>
                  <a:srgbClr val="FFFFFF"/>
                </a:solidFill>
                <a:latin typeface="Arial"/>
              </a:rPr>
              <a:t>They talk by knocking on doors</a:t>
            </a:r>
          </a:p>
          <a:p>
            <a:pPr algn="l">
              <a:spcBef>
                <a:spcPts val="0"/>
              </a:spcBef>
              <a:spcAft>
                <a:spcPts val="0"/>
              </a:spcAft>
            </a:pPr>
            <a:r>
              <a:rPr sz="1300" b="0" i="0">
                <a:solidFill>
                  <a:srgbClr val="A5B4C9"/>
                </a:solidFill>
                <a:latin typeface="Arial"/>
              </a:rPr>
              <a:t>If the owner isn't there, the matter waits until the next day. Quality, Document Control and Cost each work on their own island.</a:t>
            </a:r>
          </a:p>
        </p:txBody>
      </p:sp>
      <p:sp>
        <p:nvSpPr>
          <p:cNvPr id="5" name="Rounded Rectangle 4"/>
          <p:cNvSpPr/>
          <p:nvPr/>
        </p:nvSpPr>
        <p:spPr>
          <a:xfrm>
            <a:off x="4416552" y="2148840"/>
            <a:ext cx="3410712" cy="2880360"/>
          </a:xfrm>
          <a:prstGeom prst="roundRect">
            <a:avLst>
              <a:gd name="adj" fmla="val 9000"/>
            </a:avLst>
          </a:prstGeom>
          <a:solidFill>
            <a:srgbClr val="1E44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800"/>
              </a:spcAft>
            </a:pPr>
            <a:r>
              <a:rPr sz="1200" b="1" i="0">
                <a:solidFill>
                  <a:srgbClr val="80C8EE"/>
                </a:solidFill>
                <a:latin typeface="Arial"/>
              </a:rPr>
              <a:t>A PATCHWORK REPORT</a:t>
            </a:r>
          </a:p>
          <a:p>
            <a:pPr algn="l">
              <a:spcBef>
                <a:spcPts val="0"/>
              </a:spcBef>
              <a:spcAft>
                <a:spcPts val="800"/>
              </a:spcAft>
            </a:pPr>
            <a:r>
              <a:rPr sz="1850" b="1" i="0">
                <a:solidFill>
                  <a:srgbClr val="FFFFFF"/>
                </a:solidFill>
                <a:latin typeface="Arial"/>
              </a:rPr>
              <a:t>The weekly report was a collage</a:t>
            </a:r>
          </a:p>
          <a:p>
            <a:pPr algn="l">
              <a:spcBef>
                <a:spcPts val="0"/>
              </a:spcBef>
              <a:spcAft>
                <a:spcPts val="0"/>
              </a:spcAft>
            </a:pPr>
            <a:r>
              <a:rPr sz="1300" b="0" i="0">
                <a:solidFill>
                  <a:srgbClr val="A5B4C9"/>
                </a:solidFill>
                <a:latin typeface="Arial"/>
              </a:rPr>
              <a:t>Everyone built their own piece, in their own style and colour, and pasted them together. A different look on every page, no version to trust.</a:t>
            </a:r>
          </a:p>
        </p:txBody>
      </p:sp>
      <p:sp>
        <p:nvSpPr>
          <p:cNvPr id="6" name="Rounded Rectangle 5"/>
          <p:cNvSpPr/>
          <p:nvPr/>
        </p:nvSpPr>
        <p:spPr>
          <a:xfrm>
            <a:off x="8010144" y="2148840"/>
            <a:ext cx="3410712" cy="2880360"/>
          </a:xfrm>
          <a:prstGeom prst="roundRect">
            <a:avLst>
              <a:gd name="adj" fmla="val 9000"/>
            </a:avLst>
          </a:prstGeom>
          <a:solidFill>
            <a:srgbClr val="1E44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800"/>
              </a:spcAft>
            </a:pPr>
            <a:r>
              <a:rPr sz="1200" b="1" i="0">
                <a:solidFill>
                  <a:srgbClr val="80C8EE"/>
                </a:solidFill>
                <a:latin typeface="Arial"/>
              </a:rPr>
              <a:t>THINGS GET LOST</a:t>
            </a:r>
          </a:p>
          <a:p>
            <a:pPr algn="l">
              <a:spcBef>
                <a:spcPts val="0"/>
              </a:spcBef>
              <a:spcAft>
                <a:spcPts val="800"/>
              </a:spcAft>
            </a:pPr>
            <a:r>
              <a:rPr sz="1850" b="1" i="0">
                <a:solidFill>
                  <a:srgbClr val="FFFFFF"/>
                </a:solidFill>
                <a:latin typeface="Arial"/>
              </a:rPr>
              <a:t>No one knew what was going on</a:t>
            </a:r>
          </a:p>
          <a:p>
            <a:pPr algn="l">
              <a:spcBef>
                <a:spcPts val="0"/>
              </a:spcBef>
              <a:spcAft>
                <a:spcPts val="0"/>
              </a:spcAft>
            </a:pPr>
            <a:r>
              <a:rPr sz="1300" b="0" i="0">
                <a:solidFill>
                  <a:srgbClr val="A5B4C9"/>
                </a:solidFill>
                <a:latin typeface="Arial"/>
              </a:rPr>
              <a:t>Plans in dozens of versions, and paper forms passed hand to hand that went missing. No history, so a change left no trace.</a:t>
            </a:r>
          </a:p>
        </p:txBody>
      </p:sp>
      <p:sp>
        <p:nvSpPr>
          <p:cNvPr id="7" name="TextBox 6"/>
          <p:cNvSpPr txBox="1"/>
          <p:nvPr/>
        </p:nvSpPr>
        <p:spPr>
          <a:xfrm>
            <a:off x="822960" y="5257800"/>
            <a:ext cx="10515600" cy="914400"/>
          </a:xfrm>
          <a:prstGeom prst="rect">
            <a:avLst/>
          </a:prstGeom>
          <a:noFill/>
        </p:spPr>
        <p:txBody>
          <a:bodyPr wrap="square" anchor="t" lIns="0" rIns="0" tIns="0" bIns="0">
            <a:spAutoFit/>
          </a:bodyPr>
          <a:lstStyle/>
          <a:p>
            <a:pPr algn="l">
              <a:spcBef>
                <a:spcPts val="0"/>
              </a:spcBef>
              <a:spcAft>
                <a:spcPts val="400"/>
              </a:spcAft>
            </a:pPr>
            <a:r>
              <a:rPr sz="1500" b="0" i="0">
                <a:solidFill>
                  <a:srgbClr val="4B6994"/>
                </a:solidFill>
                <a:latin typeface="Arial"/>
              </a:rPr>
              <a:t>Talking in person, on paper, costs days. Even so, all eight leads asked for almost the same thing: one place to raise requests, one living file, and reports that build themselves.</a:t>
            </a:r>
          </a:p>
        </p:txBody>
      </p:sp>
      <p:sp>
        <p:nvSpPr>
          <p:cNvPr id="8" name="TextBox 7"/>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4B6994"/>
                </a:solidFill>
                <a:latin typeface="Arial"/>
              </a:rPr>
              <a:t>Turner &amp; Townsend    ·    ODATA QR03    ·    Confidential</a:t>
            </a:r>
          </a:p>
        </p:txBody>
      </p:sp>
      <p:sp>
        <p:nvSpPr>
          <p:cNvPr id="9" name="TextBox 8"/>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4B699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EEE7"/>
        </a:solidFill>
        <a:effectLst/>
      </p:bgPr>
    </p:bg>
    <p:spTree>
      <p:nvGrpSpPr>
        <p:cNvPr id="1" name=""/>
        <p:cNvGrpSpPr/>
        <p:nvPr/>
      </p:nvGrpSpPr>
      <p:grpSpPr/>
      <p:sp>
        <p:nvSpPr>
          <p:cNvPr id="2" name="TextBox 1"/>
          <p:cNvSpPr txBox="1"/>
          <p:nvPr/>
        </p:nvSpPr>
        <p:spPr>
          <a:xfrm>
            <a:off x="822960" y="685800"/>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0090DC"/>
                </a:solidFill>
                <a:latin typeface="Arial"/>
              </a:rPr>
              <a:t>THE ANSWER</a:t>
            </a:r>
          </a:p>
        </p:txBody>
      </p:sp>
      <p:sp>
        <p:nvSpPr>
          <p:cNvPr id="3" name="TextBox 2"/>
          <p:cNvSpPr txBox="1"/>
          <p:nvPr/>
        </p:nvSpPr>
        <p:spPr>
          <a:xfrm>
            <a:off x="822960" y="1051560"/>
            <a:ext cx="10515600" cy="822960"/>
          </a:xfrm>
          <a:prstGeom prst="rect">
            <a:avLst/>
          </a:prstGeom>
          <a:noFill/>
        </p:spPr>
        <p:txBody>
          <a:bodyPr wrap="square" anchor="t" lIns="0" rIns="0" tIns="0" bIns="0">
            <a:spAutoFit/>
          </a:bodyPr>
          <a:lstStyle/>
          <a:p>
            <a:pPr algn="l">
              <a:spcBef>
                <a:spcPts val="0"/>
              </a:spcBef>
              <a:spcAft>
                <a:spcPts val="400"/>
              </a:spcAft>
            </a:pPr>
            <a:r>
              <a:rPr sz="3400" b="1" i="0">
                <a:solidFill>
                  <a:srgbClr val="182A40"/>
                </a:solidFill>
                <a:latin typeface="Arial"/>
              </a:rPr>
              <a:t>One platform, not eight workarounds</a:t>
            </a:r>
          </a:p>
        </p:txBody>
      </p:sp>
      <p:sp>
        <p:nvSpPr>
          <p:cNvPr id="4" name="Rounded Rectangle 3"/>
          <p:cNvSpPr/>
          <p:nvPr/>
        </p:nvSpPr>
        <p:spPr>
          <a:xfrm>
            <a:off x="822960" y="2103120"/>
            <a:ext cx="2523744" cy="3063240"/>
          </a:xfrm>
          <a:prstGeom prst="roundRect">
            <a:avLst>
              <a:gd name="adj" fmla="val 9000"/>
            </a:avLst>
          </a:prstGeom>
          <a:solidFill>
            <a:srgbClr val="1E44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00" b="1" i="0">
                <a:solidFill>
                  <a:srgbClr val="80C8EE"/>
                </a:solidFill>
                <a:latin typeface="Arial"/>
              </a:rPr>
              <a:t>THE GAME-CHANGER</a:t>
            </a:r>
          </a:p>
          <a:p>
            <a:pPr algn="l">
              <a:spcBef>
                <a:spcPts val="0"/>
              </a:spcBef>
              <a:spcAft>
                <a:spcPts val="800"/>
              </a:spcAft>
            </a:pPr>
            <a:r>
              <a:rPr sz="1650" b="1" i="0">
                <a:solidFill>
                  <a:srgbClr val="FFFFFF"/>
                </a:solidFill>
                <a:latin typeface="Arial"/>
              </a:rPr>
              <a:t>One place for every request</a:t>
            </a:r>
          </a:p>
          <a:p>
            <a:pPr algn="l">
              <a:spcBef>
                <a:spcPts val="0"/>
              </a:spcBef>
              <a:spcAft>
                <a:spcPts val="0"/>
              </a:spcAft>
            </a:pPr>
            <a:r>
              <a:rPr sz="1250" b="0" i="0">
                <a:solidFill>
                  <a:srgbClr val="A5B4C9"/>
                </a:solidFill>
                <a:latin typeface="Arial"/>
              </a:rPr>
              <a:t>Raise it, assign it, track it — with an owner and a due date. Nothing lost in WhatsApp, nothing waiting on a knock at the door.</a:t>
            </a:r>
          </a:p>
        </p:txBody>
      </p:sp>
      <p:sp>
        <p:nvSpPr>
          <p:cNvPr id="5" name="Rounded Rectangle 4"/>
          <p:cNvSpPr/>
          <p:nvPr/>
        </p:nvSpPr>
        <p:spPr>
          <a:xfrm>
            <a:off x="3511296" y="2103120"/>
            <a:ext cx="2523744" cy="3063240"/>
          </a:xfrm>
          <a:prstGeom prst="roundRect">
            <a:avLst>
              <a:gd name="adj" fmla="val 9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00" b="1" i="0">
                <a:solidFill>
                  <a:srgbClr val="0090DC"/>
                </a:solidFill>
                <a:latin typeface="Arial"/>
              </a:rPr>
              <a:t>THE ANTIDOTE</a:t>
            </a:r>
          </a:p>
          <a:p>
            <a:pPr algn="l">
              <a:spcBef>
                <a:spcPts val="0"/>
              </a:spcBef>
              <a:spcAft>
                <a:spcPts val="800"/>
              </a:spcAft>
            </a:pPr>
            <a:r>
              <a:rPr sz="1650" b="1" i="0">
                <a:solidFill>
                  <a:srgbClr val="182A40"/>
                </a:solidFill>
                <a:latin typeface="Arial"/>
              </a:rPr>
              <a:t>Nothing gets lost</a:t>
            </a:r>
          </a:p>
          <a:p>
            <a:pPr algn="l">
              <a:spcBef>
                <a:spcPts val="0"/>
              </a:spcBef>
              <a:spcAft>
                <a:spcPts val="0"/>
              </a:spcAft>
            </a:pPr>
            <a:r>
              <a:rPr sz="1250" b="0" i="0">
                <a:solidFill>
                  <a:srgbClr val="4B6994"/>
                </a:solidFill>
                <a:latin typeface="Arial"/>
              </a:rPr>
              <a:t>Every number shows where it came from, who changed it, and when. One version everyone can trust.</a:t>
            </a:r>
          </a:p>
        </p:txBody>
      </p:sp>
      <p:sp>
        <p:nvSpPr>
          <p:cNvPr id="6" name="Rounded Rectangle 5"/>
          <p:cNvSpPr/>
          <p:nvPr/>
        </p:nvSpPr>
        <p:spPr>
          <a:xfrm>
            <a:off x="6199632" y="2103120"/>
            <a:ext cx="2523744" cy="3063240"/>
          </a:xfrm>
          <a:prstGeom prst="roundRect">
            <a:avLst>
              <a:gd name="adj" fmla="val 9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00" b="1" i="0">
                <a:solidFill>
                  <a:srgbClr val="0090DC"/>
                </a:solidFill>
                <a:latin typeface="Arial"/>
              </a:rPr>
              <a:t>THE METHOD</a:t>
            </a:r>
          </a:p>
          <a:p>
            <a:pPr algn="l">
              <a:spcBef>
                <a:spcPts val="0"/>
              </a:spcBef>
              <a:spcAft>
                <a:spcPts val="800"/>
              </a:spcAft>
            </a:pPr>
            <a:r>
              <a:rPr sz="1650" b="1" i="0">
                <a:solidFill>
                  <a:srgbClr val="182A40"/>
                </a:solidFill>
                <a:latin typeface="Arial"/>
              </a:rPr>
              <a:t>Everyone on one plan</a:t>
            </a:r>
          </a:p>
          <a:p>
            <a:pPr algn="l">
              <a:spcBef>
                <a:spcPts val="0"/>
              </a:spcBef>
              <a:spcAft>
                <a:spcPts val="0"/>
              </a:spcAft>
            </a:pPr>
            <a:r>
              <a:rPr sz="1250" b="0" i="0">
                <a:solidFill>
                  <a:srgbClr val="4B6994"/>
                </a:solidFill>
                <a:latin typeface="Arial"/>
              </a:rPr>
              <a:t>Proven delivery methods tie Cost, Planning, Execution and Commissioning together — one plan for the whole project.</a:t>
            </a:r>
          </a:p>
        </p:txBody>
      </p:sp>
      <p:sp>
        <p:nvSpPr>
          <p:cNvPr id="7" name="Rounded Rectangle 6"/>
          <p:cNvSpPr/>
          <p:nvPr/>
        </p:nvSpPr>
        <p:spPr>
          <a:xfrm>
            <a:off x="8887968" y="2103120"/>
            <a:ext cx="2523744" cy="3063240"/>
          </a:xfrm>
          <a:prstGeom prst="roundRect">
            <a:avLst>
              <a:gd name="adj" fmla="val 9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00" b="1" i="0">
                <a:solidFill>
                  <a:srgbClr val="0090DC"/>
                </a:solidFill>
                <a:latin typeface="Arial"/>
              </a:rPr>
              <a:t>THE VIEW</a:t>
            </a:r>
          </a:p>
          <a:p>
            <a:pPr algn="l">
              <a:spcBef>
                <a:spcPts val="0"/>
              </a:spcBef>
              <a:spcAft>
                <a:spcPts val="800"/>
              </a:spcAft>
            </a:pPr>
            <a:r>
              <a:rPr sz="1650" b="1" i="0">
                <a:solidFill>
                  <a:srgbClr val="182A40"/>
                </a:solidFill>
                <a:latin typeface="Arial"/>
              </a:rPr>
              <a:t>One clear view</a:t>
            </a:r>
          </a:p>
          <a:p>
            <a:pPr algn="l">
              <a:spcBef>
                <a:spcPts val="0"/>
              </a:spcBef>
              <a:spcAft>
                <a:spcPts val="0"/>
              </a:spcAft>
            </a:pPr>
            <a:r>
              <a:rPr sz="1250" b="0" i="0">
                <a:solidFill>
                  <a:srgbClr val="4B6994"/>
                </a:solidFill>
                <a:latin typeface="Arial"/>
              </a:rPr>
              <a:t>Progress, budget vs. actual, and the health of the project — updated on their own, not built by hand every week.</a:t>
            </a:r>
          </a:p>
        </p:txBody>
      </p:sp>
      <p:sp>
        <p:nvSpPr>
          <p:cNvPr id="8" name="TextBox 7"/>
          <p:cNvSpPr txBox="1"/>
          <p:nvPr/>
        </p:nvSpPr>
        <p:spPr>
          <a:xfrm>
            <a:off x="822960" y="5394960"/>
            <a:ext cx="10515600" cy="731520"/>
          </a:xfrm>
          <a:prstGeom prst="rect">
            <a:avLst/>
          </a:prstGeom>
          <a:noFill/>
        </p:spPr>
        <p:txBody>
          <a:bodyPr wrap="square" anchor="t" lIns="0" rIns="0" tIns="0" bIns="0">
            <a:spAutoFit/>
          </a:bodyPr>
          <a:lstStyle/>
          <a:p>
            <a:pPr algn="l">
              <a:spcBef>
                <a:spcPts val="0"/>
              </a:spcBef>
              <a:spcAft>
                <a:spcPts val="400"/>
              </a:spcAft>
            </a:pPr>
            <a:r>
              <a:rPr sz="1500" b="0" i="0">
                <a:solidFill>
                  <a:srgbClr val="4B6994"/>
                </a:solidFill>
                <a:latin typeface="Arial"/>
              </a:rPr>
              <a:t>Four pillars that answer, one by one, what the eight teams asked for — and four focus points that prove it's doable, and real.</a:t>
            </a:r>
          </a:p>
        </p:txBody>
      </p:sp>
      <p:sp>
        <p:nvSpPr>
          <p:cNvPr id="9" name="TextBox 8"/>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4B6994"/>
                </a:solidFill>
                <a:latin typeface="Arial"/>
              </a:rPr>
              <a:t>Turner &amp; Townsend    ·    ODATA QR03    ·    Confidential</a:t>
            </a:r>
          </a:p>
        </p:txBody>
      </p:sp>
      <p:sp>
        <p:nvSpPr>
          <p:cNvPr id="10" name="TextBox 9"/>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4B699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4479"/>
        </a:solidFill>
        <a:effectLst/>
      </p:bgPr>
    </p:bg>
    <p:spTree>
      <p:nvGrpSpPr>
        <p:cNvPr id="1" name=""/>
        <p:cNvGrpSpPr/>
        <p:nvPr/>
      </p:nvGrpSpPr>
      <p:grpSpPr/>
      <p:sp>
        <p:nvSpPr>
          <p:cNvPr id="2" name="TextBox 1"/>
          <p:cNvSpPr txBox="1"/>
          <p:nvPr/>
        </p:nvSpPr>
        <p:spPr>
          <a:xfrm>
            <a:off x="822960" y="731520"/>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80C8EE"/>
                </a:solidFill>
                <a:latin typeface="Arial"/>
              </a:rPr>
              <a:t>FOCUS 1  ·  THE SITE</a:t>
            </a:r>
          </a:p>
        </p:txBody>
      </p:sp>
      <p:sp>
        <p:nvSpPr>
          <p:cNvPr id="3" name="TextBox 2"/>
          <p:cNvSpPr txBox="1"/>
          <p:nvPr/>
        </p:nvSpPr>
        <p:spPr>
          <a:xfrm>
            <a:off x="822960" y="1097280"/>
            <a:ext cx="10515600" cy="822960"/>
          </a:xfrm>
          <a:prstGeom prst="rect">
            <a:avLst/>
          </a:prstGeom>
          <a:noFill/>
        </p:spPr>
        <p:txBody>
          <a:bodyPr wrap="square" anchor="t" lIns="0" rIns="0" tIns="0" bIns="0">
            <a:spAutoFit/>
          </a:bodyPr>
          <a:lstStyle/>
          <a:p>
            <a:pPr algn="l">
              <a:spcBef>
                <a:spcPts val="0"/>
              </a:spcBef>
              <a:spcAft>
                <a:spcPts val="400"/>
              </a:spcAft>
            </a:pPr>
            <a:r>
              <a:rPr sz="3400" b="1" i="0">
                <a:solidFill>
                  <a:srgbClr val="FFFFFF"/>
                </a:solidFill>
                <a:latin typeface="Arial"/>
              </a:rPr>
              <a:t>From a plot of land to a data center</a:t>
            </a:r>
          </a:p>
        </p:txBody>
      </p:sp>
      <p:sp>
        <p:nvSpPr>
          <p:cNvPr id="4" name="Rounded Rectangle 3"/>
          <p:cNvSpPr/>
          <p:nvPr/>
        </p:nvSpPr>
        <p:spPr>
          <a:xfrm>
            <a:off x="822960" y="2148840"/>
            <a:ext cx="5349240" cy="2788920"/>
          </a:xfrm>
          <a:prstGeom prst="roundRect">
            <a:avLst>
              <a:gd name="adj" fmla="val 9000"/>
            </a:avLst>
          </a:prstGeom>
          <a:solidFill>
            <a:srgbClr val="142E54"/>
          </a:solidFill>
          <a:ln w="12700">
            <a:solidFill>
              <a:srgbClr val="1E44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800"/>
              </a:spcAft>
            </a:pPr>
            <a:r>
              <a:rPr sz="1200" b="1" i="0">
                <a:solidFill>
                  <a:srgbClr val="80C8EE"/>
                </a:solidFill>
                <a:latin typeface="Arial"/>
              </a:rPr>
              <a:t>DAY ONE</a:t>
            </a:r>
          </a:p>
          <a:p>
            <a:pPr algn="l">
              <a:spcBef>
                <a:spcPts val="0"/>
              </a:spcBef>
              <a:spcAft>
                <a:spcPts val="0"/>
              </a:spcAft>
            </a:pPr>
            <a:r>
              <a:rPr sz="1500" b="0" i="0">
                <a:solidFill>
                  <a:srgbClr val="A5B4C9"/>
                </a:solidFill>
                <a:latin typeface="Arial"/>
              </a:rPr>
              <a:t>[ satellite image — day one ]</a:t>
            </a:r>
          </a:p>
        </p:txBody>
      </p:sp>
      <p:sp>
        <p:nvSpPr>
          <p:cNvPr id="5" name="Rounded Rectangle 4"/>
          <p:cNvSpPr/>
          <p:nvPr/>
        </p:nvSpPr>
        <p:spPr>
          <a:xfrm>
            <a:off x="6355080" y="2148840"/>
            <a:ext cx="5349240" cy="2788920"/>
          </a:xfrm>
          <a:prstGeom prst="roundRect">
            <a:avLst>
              <a:gd name="adj" fmla="val 9000"/>
            </a:avLst>
          </a:prstGeom>
          <a:solidFill>
            <a:srgbClr val="142E54"/>
          </a:solidFill>
          <a:ln w="12700">
            <a:solidFill>
              <a:srgbClr val="1E44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800"/>
              </a:spcAft>
            </a:pPr>
            <a:r>
              <a:rPr sz="1200" b="1" i="0">
                <a:solidFill>
                  <a:srgbClr val="80C8EE"/>
                </a:solidFill>
                <a:latin typeface="Arial"/>
              </a:rPr>
              <a:t>TODAY</a:t>
            </a:r>
          </a:p>
          <a:p>
            <a:pPr algn="l">
              <a:spcBef>
                <a:spcPts val="0"/>
              </a:spcBef>
              <a:spcAft>
                <a:spcPts val="0"/>
              </a:spcAft>
            </a:pPr>
            <a:r>
              <a:rPr sz="1500" b="0" i="0">
                <a:solidFill>
                  <a:srgbClr val="A5B4C9"/>
                </a:solidFill>
                <a:latin typeface="Arial"/>
              </a:rPr>
              <a:t>[ satellite image — today ]</a:t>
            </a:r>
          </a:p>
        </p:txBody>
      </p:sp>
      <p:sp>
        <p:nvSpPr>
          <p:cNvPr id="6" name="TextBox 5"/>
          <p:cNvSpPr txBox="1"/>
          <p:nvPr/>
        </p:nvSpPr>
        <p:spPr>
          <a:xfrm>
            <a:off x="822960" y="5212080"/>
            <a:ext cx="10515600" cy="822960"/>
          </a:xfrm>
          <a:prstGeom prst="rect">
            <a:avLst/>
          </a:prstGeom>
          <a:noFill/>
        </p:spPr>
        <p:txBody>
          <a:bodyPr wrap="square" anchor="t" lIns="0" rIns="0" tIns="0" bIns="0">
            <a:spAutoFit/>
          </a:bodyPr>
          <a:lstStyle/>
          <a:p>
            <a:pPr algn="l">
              <a:spcBef>
                <a:spcPts val="0"/>
              </a:spcBef>
              <a:spcAft>
                <a:spcPts val="400"/>
              </a:spcAft>
            </a:pPr>
            <a:r>
              <a:rPr sz="1500" b="0" i="0">
                <a:solidFill>
                  <a:srgbClr val="A5B4C9"/>
                </a:solidFill>
                <a:latin typeface="Arial"/>
              </a:rPr>
              <a:t>How it started, how it grew, and where it stands today — for anyone who hasn't yet set foot on site.</a:t>
            </a:r>
          </a:p>
        </p:txBody>
      </p:sp>
      <p:sp>
        <p:nvSpPr>
          <p:cNvPr id="7" name="TextBox 6"/>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A5B4C9"/>
                </a:solidFill>
                <a:latin typeface="Arial"/>
              </a:rPr>
              <a:t>Turner &amp; Townsend    ·    ODATA QR03    ·    Confidential</a:t>
            </a:r>
          </a:p>
        </p:txBody>
      </p:sp>
      <p:sp>
        <p:nvSpPr>
          <p:cNvPr id="8" name="TextBox 7"/>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A5B4C9"/>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EEE7"/>
        </a:solidFill>
        <a:effectLst/>
      </p:bgPr>
    </p:bg>
    <p:spTree>
      <p:nvGrpSpPr>
        <p:cNvPr id="1" name=""/>
        <p:cNvGrpSpPr/>
        <p:nvPr/>
      </p:nvGrpSpPr>
      <p:grpSpPr/>
      <p:sp>
        <p:nvSpPr>
          <p:cNvPr id="2" name="TextBox 1"/>
          <p:cNvSpPr txBox="1"/>
          <p:nvPr/>
        </p:nvSpPr>
        <p:spPr>
          <a:xfrm>
            <a:off x="822960" y="685800"/>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0090DC"/>
                </a:solidFill>
                <a:latin typeface="Arial"/>
              </a:rPr>
              <a:t>FOCUS 2  ·  BUILT FOR REAL</a:t>
            </a:r>
          </a:p>
        </p:txBody>
      </p:sp>
      <p:sp>
        <p:nvSpPr>
          <p:cNvPr id="3" name="TextBox 2"/>
          <p:cNvSpPr txBox="1"/>
          <p:nvPr/>
        </p:nvSpPr>
        <p:spPr>
          <a:xfrm>
            <a:off x="822960" y="1051560"/>
            <a:ext cx="10515600" cy="822960"/>
          </a:xfrm>
          <a:prstGeom prst="rect">
            <a:avLst/>
          </a:prstGeom>
          <a:noFill/>
        </p:spPr>
        <p:txBody>
          <a:bodyPr wrap="square" anchor="t" lIns="0" rIns="0" tIns="0" bIns="0">
            <a:spAutoFit/>
          </a:bodyPr>
          <a:lstStyle/>
          <a:p>
            <a:pPr algn="l">
              <a:spcBef>
                <a:spcPts val="0"/>
              </a:spcBef>
              <a:spcAft>
                <a:spcPts val="400"/>
              </a:spcAft>
            </a:pPr>
            <a:r>
              <a:rPr sz="3400" b="1" i="0">
                <a:solidFill>
                  <a:srgbClr val="182A40"/>
                </a:solidFill>
                <a:latin typeface="Arial"/>
              </a:rPr>
              <a:t>It's real — and nothing gets lost</a:t>
            </a:r>
          </a:p>
        </p:txBody>
      </p:sp>
      <p:sp>
        <p:nvSpPr>
          <p:cNvPr id="4" name="TextBox 3"/>
          <p:cNvSpPr txBox="1"/>
          <p:nvPr/>
        </p:nvSpPr>
        <p:spPr>
          <a:xfrm>
            <a:off x="822960" y="1965960"/>
            <a:ext cx="6492240" cy="1828800"/>
          </a:xfrm>
          <a:prstGeom prst="rect">
            <a:avLst/>
          </a:prstGeom>
          <a:noFill/>
        </p:spPr>
        <p:txBody>
          <a:bodyPr wrap="square" anchor="t" lIns="0" rIns="0" tIns="0" bIns="0">
            <a:spAutoFit/>
          </a:bodyPr>
          <a:lstStyle/>
          <a:p>
            <a:pPr algn="l">
              <a:spcBef>
                <a:spcPts val="0"/>
              </a:spcBef>
              <a:spcAft>
                <a:spcPts val="400"/>
              </a:spcAft>
            </a:pPr>
            <a:r>
              <a:rPr sz="1550" b="0" i="0">
                <a:solidFill>
                  <a:srgbClr val="4B6994"/>
                </a:solidFill>
                <a:latin typeface="Arial"/>
              </a:rPr>
              <a:t>This isn't a slide — it's a real, working system underneath. 48 tables, all connected, so any number can be traced back to who entered it and when, with every version kept. That's what stops things from going missing.</a:t>
            </a:r>
          </a:p>
        </p:txBody>
      </p:sp>
      <p:sp>
        <p:nvSpPr>
          <p:cNvPr id="5" name="Rounded Rectangle 4"/>
          <p:cNvSpPr/>
          <p:nvPr/>
        </p:nvSpPr>
        <p:spPr>
          <a:xfrm>
            <a:off x="7635240" y="1965960"/>
            <a:ext cx="3703320" cy="896112"/>
          </a:xfrm>
          <a:prstGeom prst="roundRect">
            <a:avLst>
              <a:gd name="adj" fmla="val 9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0"/>
              </a:spcAft>
            </a:pPr>
            <a:r>
              <a:rPr sz="2600" b="1" i="0">
                <a:solidFill>
                  <a:srgbClr val="0090DC"/>
                </a:solidFill>
                <a:latin typeface="Arial"/>
              </a:rPr>
              <a:t>48   </a:t>
            </a:r>
            <a:r>
              <a:rPr sz="1300">
                <a:solidFill>
                  <a:srgbClr val="4B6994"/>
                </a:solidFill>
                <a:latin typeface="Arial"/>
              </a:rPr>
              <a:t>connected tables</a:t>
            </a:r>
          </a:p>
        </p:txBody>
      </p:sp>
      <p:sp>
        <p:nvSpPr>
          <p:cNvPr id="6" name="Rounded Rectangle 5"/>
          <p:cNvSpPr/>
          <p:nvPr/>
        </p:nvSpPr>
        <p:spPr>
          <a:xfrm>
            <a:off x="7635240" y="2990088"/>
            <a:ext cx="3703320" cy="896112"/>
          </a:xfrm>
          <a:prstGeom prst="roundRect">
            <a:avLst>
              <a:gd name="adj" fmla="val 9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0"/>
              </a:spcAft>
            </a:pPr>
            <a:r>
              <a:rPr sz="2600" b="1" i="0">
                <a:solidFill>
                  <a:srgbClr val="0090DC"/>
                </a:solidFill>
                <a:latin typeface="Arial"/>
              </a:rPr>
              <a:t>8   </a:t>
            </a:r>
            <a:r>
              <a:rPr sz="1300">
                <a:solidFill>
                  <a:srgbClr val="4B6994"/>
                </a:solidFill>
                <a:latin typeface="Arial"/>
              </a:rPr>
              <a:t>teams, one model</a:t>
            </a:r>
          </a:p>
        </p:txBody>
      </p:sp>
      <p:sp>
        <p:nvSpPr>
          <p:cNvPr id="7" name="Rounded Rectangle 6"/>
          <p:cNvSpPr/>
          <p:nvPr/>
        </p:nvSpPr>
        <p:spPr>
          <a:xfrm>
            <a:off x="7635240" y="4014216"/>
            <a:ext cx="3703320" cy="896112"/>
          </a:xfrm>
          <a:prstGeom prst="roundRect">
            <a:avLst>
              <a:gd name="adj" fmla="val 9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0"/>
              </a:spcAft>
            </a:pPr>
            <a:r>
              <a:rPr sz="2600" b="1" i="0">
                <a:solidFill>
                  <a:srgbClr val="0090DC"/>
                </a:solidFill>
                <a:latin typeface="Arial"/>
              </a:rPr>
              <a:t>Full   </a:t>
            </a:r>
            <a:r>
              <a:rPr sz="1300">
                <a:solidFill>
                  <a:srgbClr val="4B6994"/>
                </a:solidFill>
                <a:latin typeface="Arial"/>
              </a:rPr>
              <a:t>history, every change</a:t>
            </a:r>
          </a:p>
        </p:txBody>
      </p:sp>
      <p:sp>
        <p:nvSpPr>
          <p:cNvPr id="8" name="Rounded Rectangle 7"/>
          <p:cNvSpPr/>
          <p:nvPr/>
        </p:nvSpPr>
        <p:spPr>
          <a:xfrm>
            <a:off x="822960" y="5074920"/>
            <a:ext cx="10515600" cy="1051560"/>
          </a:xfrm>
          <a:prstGeom prst="roundRect">
            <a:avLst>
              <a:gd name="adj" fmla="val 9000"/>
            </a:avLst>
          </a:prstGeom>
          <a:solidFill>
            <a:srgbClr val="1E44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228600" rIns="228600"/>
          <a:lstStyle/>
          <a:p>
            <a:pPr algn="l"/>
            <a:r>
              <a:rPr sz="1500" b="1">
                <a:solidFill>
                  <a:srgbClr val="80C8EE"/>
                </a:solidFill>
                <a:latin typeface="Arial"/>
              </a:rPr>
              <a:t>The trail:  </a:t>
            </a:r>
            <a:r>
              <a:rPr sz="1500" b="0">
                <a:solidFill>
                  <a:srgbClr val="FFFFFF"/>
                </a:solidFill>
                <a:latin typeface="Arial"/>
              </a:rPr>
              <a:t>Who entered it, and when   →   </a:t>
            </a:r>
            <a:r>
              <a:rPr sz="1500" b="0">
                <a:solidFill>
                  <a:srgbClr val="FFFFFF"/>
                </a:solidFill>
                <a:latin typeface="Arial"/>
              </a:rPr>
              <a:t>One connected system   →   </a:t>
            </a:r>
            <a:r>
              <a:rPr sz="1500" b="0">
                <a:solidFill>
                  <a:srgbClr val="FFFFFF"/>
                </a:solidFill>
                <a:latin typeface="Arial"/>
              </a:rPr>
              <a:t>Every version kept   →   </a:t>
            </a:r>
            <a:r>
              <a:rPr sz="1500" b="1">
                <a:solidFill>
                  <a:srgbClr val="80C8EE"/>
                </a:solidFill>
                <a:latin typeface="Arial"/>
              </a:rPr>
              <a:t>A report you can trust</a:t>
            </a:r>
          </a:p>
        </p:txBody>
      </p:sp>
      <p:sp>
        <p:nvSpPr>
          <p:cNvPr id="9" name="TextBox 8"/>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4B6994"/>
                </a:solidFill>
                <a:latin typeface="Arial"/>
              </a:rPr>
              <a:t>Turner &amp; Townsend    ·    ODATA QR03    ·    Confidential</a:t>
            </a:r>
          </a:p>
        </p:txBody>
      </p:sp>
      <p:sp>
        <p:nvSpPr>
          <p:cNvPr id="10" name="TextBox 9"/>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4B699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4479"/>
        </a:solidFill>
        <a:effectLst/>
      </p:bgPr>
    </p:bg>
    <p:spTree>
      <p:nvGrpSpPr>
        <p:cNvPr id="1" name=""/>
        <p:cNvGrpSpPr/>
        <p:nvPr/>
      </p:nvGrpSpPr>
      <p:grpSpPr/>
      <p:sp>
        <p:nvSpPr>
          <p:cNvPr id="2" name="TextBox 1"/>
          <p:cNvSpPr txBox="1"/>
          <p:nvPr/>
        </p:nvSpPr>
        <p:spPr>
          <a:xfrm>
            <a:off x="822960" y="658368"/>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80C8EE"/>
                </a:solidFill>
                <a:latin typeface="Arial"/>
              </a:rPr>
              <a:t>FOCUS 3  ·  WHY US</a:t>
            </a:r>
          </a:p>
        </p:txBody>
      </p:sp>
      <p:sp>
        <p:nvSpPr>
          <p:cNvPr id="3" name="TextBox 2"/>
          <p:cNvSpPr txBox="1"/>
          <p:nvPr/>
        </p:nvSpPr>
        <p:spPr>
          <a:xfrm>
            <a:off x="822960" y="1005840"/>
            <a:ext cx="10515600" cy="1280160"/>
          </a:xfrm>
          <a:prstGeom prst="rect">
            <a:avLst/>
          </a:prstGeom>
          <a:noFill/>
        </p:spPr>
        <p:txBody>
          <a:bodyPr wrap="square" anchor="t" lIns="0" rIns="0" tIns="0" bIns="0">
            <a:spAutoFit/>
          </a:bodyPr>
          <a:lstStyle/>
          <a:p>
            <a:pPr algn="l">
              <a:spcBef>
                <a:spcPts val="0"/>
              </a:spcBef>
              <a:spcAft>
                <a:spcPts val="400"/>
              </a:spcAft>
            </a:pPr>
            <a:r>
              <a:rPr sz="3000" b="1" i="0">
                <a:solidFill>
                  <a:srgbClr val="FFFFFF"/>
                </a:solidFill>
                <a:latin typeface="Arial"/>
              </a:rPr>
              <a:t>No software on the market is built for data centers</a:t>
            </a:r>
          </a:p>
        </p:txBody>
      </p:sp>
      <p:graphicFrame>
        <p:nvGraphicFramePr>
          <p:cNvPr id="4" name="Table 3"/>
          <p:cNvGraphicFramePr>
            <a:graphicFrameLocks noGrp="1"/>
          </p:cNvGraphicFramePr>
          <p:nvPr/>
        </p:nvGraphicFramePr>
        <p:xfrm>
          <a:off x="822960" y="2240280"/>
          <a:ext cx="7680960" cy="3200400"/>
        </p:xfrm>
        <a:graphic>
          <a:graphicData uri="http://schemas.openxmlformats.org/drawingml/2006/table">
            <a:tbl>
              <a:tblPr firstRow="1" bandRow="1">
                <a:tableStyleId>{5C22544A-7EE6-4342-B048-85BDC9FD1C3A}</a:tableStyleId>
              </a:tblPr>
              <a:tblGrid>
                <a:gridCol w="3108960"/>
                <a:gridCol w="2286000"/>
                <a:gridCol w="2286000"/>
              </a:tblGrid>
              <a:tr h="533400">
                <a:tc>
                  <a:txBody>
                    <a:bodyPr/>
                    <a:lstStyle/>
                    <a:p>
                      <a:r>
                        <a:rPr sz="1250" b="1">
                          <a:solidFill>
                            <a:srgbClr val="A5B4C9"/>
                          </a:solidFill>
                          <a:latin typeface="Arial"/>
                        </a:rPr>
                        <a:t>What matters</a:t>
                      </a:r>
                    </a:p>
                  </a:txBody>
                  <a:tcPr marL="128016" marT="45720" marB="45720" anchor="ctr">
                    <a:solidFill>
                      <a:srgbClr val="142E54"/>
                    </a:solidFill>
                  </a:tcPr>
                </a:tc>
                <a:tc>
                  <a:txBody>
                    <a:bodyPr/>
                    <a:lstStyle/>
                    <a:p>
                      <a:r>
                        <a:rPr sz="1250" b="1">
                          <a:solidFill>
                            <a:srgbClr val="A5B4C9"/>
                          </a:solidFill>
                          <a:latin typeface="Arial"/>
                        </a:rPr>
                        <a:t>Software you can buy</a:t>
                      </a:r>
                    </a:p>
                  </a:txBody>
                  <a:tcPr marL="128016" marT="45720" marB="45720" anchor="ctr">
                    <a:solidFill>
                      <a:srgbClr val="142E54"/>
                    </a:solidFill>
                  </a:tcPr>
                </a:tc>
                <a:tc>
                  <a:txBody>
                    <a:bodyPr/>
                    <a:lstStyle/>
                    <a:p>
                      <a:r>
                        <a:rPr sz="1250" b="1">
                          <a:solidFill>
                            <a:srgbClr val="80C8EE"/>
                          </a:solidFill>
                          <a:latin typeface="Arial"/>
                        </a:rPr>
                        <a:t>Our platform</a:t>
                      </a:r>
                    </a:p>
                  </a:txBody>
                  <a:tcPr marL="128016" marT="45720" marB="45720" anchor="ctr">
                    <a:solidFill>
                      <a:srgbClr val="142E54"/>
                    </a:solidFill>
                  </a:tcPr>
                </a:tc>
              </a:tr>
              <a:tr h="533400">
                <a:tc>
                  <a:txBody>
                    <a:bodyPr/>
                    <a:lstStyle/>
                    <a:p>
                      <a:r>
                        <a:rPr sz="1250">
                          <a:solidFill>
                            <a:srgbClr val="A5B4C9"/>
                          </a:solidFill>
                          <a:latin typeface="Arial"/>
                        </a:rPr>
                        <a:t>Made for data centers</a:t>
                      </a:r>
                    </a:p>
                  </a:txBody>
                  <a:tcPr marL="128016" marT="45720" marB="45720" anchor="ctr">
                    <a:solidFill>
                      <a:srgbClr val="112440"/>
                    </a:solidFill>
                  </a:tcPr>
                </a:tc>
                <a:tc>
                  <a:txBody>
                    <a:bodyPr/>
                    <a:lstStyle/>
                    <a:p>
                      <a:r>
                        <a:rPr sz="1250">
                          <a:solidFill>
                            <a:srgbClr val="8A9CB4"/>
                          </a:solidFill>
                          <a:latin typeface="Arial"/>
                        </a:rPr>
                        <a:t>No — generic</a:t>
                      </a:r>
                    </a:p>
                  </a:txBody>
                  <a:tcPr marL="128016" marT="45720" marB="45720" anchor="ctr">
                    <a:solidFill>
                      <a:srgbClr val="112440"/>
                    </a:solidFill>
                  </a:tcPr>
                </a:tc>
                <a:tc>
                  <a:txBody>
                    <a:bodyPr/>
                    <a:lstStyle/>
                    <a:p>
                      <a:r>
                        <a:rPr sz="1250" b="1">
                          <a:solidFill>
                            <a:srgbClr val="80C8EE"/>
                          </a:solidFill>
                          <a:latin typeface="Arial"/>
                        </a:rPr>
                        <a:t>Yes, by design</a:t>
                      </a:r>
                    </a:p>
                  </a:txBody>
                  <a:tcPr marL="128016" marT="45720" marB="45720" anchor="ctr">
                    <a:solidFill>
                      <a:srgbClr val="112440"/>
                    </a:solidFill>
                  </a:tcPr>
                </a:tc>
              </a:tr>
              <a:tr h="533400">
                <a:tc>
                  <a:txBody>
                    <a:bodyPr/>
                    <a:lstStyle/>
                    <a:p>
                      <a:r>
                        <a:rPr sz="1250">
                          <a:solidFill>
                            <a:srgbClr val="A5B4C9"/>
                          </a:solidFill>
                          <a:latin typeface="Arial"/>
                        </a:rPr>
                        <a:t>Covers all 8 project teams</a:t>
                      </a:r>
                    </a:p>
                  </a:txBody>
                  <a:tcPr marL="128016" marT="45720" marB="45720" anchor="ctr">
                    <a:solidFill>
                      <a:srgbClr val="0E203A"/>
                    </a:solidFill>
                  </a:tcPr>
                </a:tc>
                <a:tc>
                  <a:txBody>
                    <a:bodyPr/>
                    <a:lstStyle/>
                    <a:p>
                      <a:r>
                        <a:rPr sz="1250">
                          <a:solidFill>
                            <a:srgbClr val="8A9CB4"/>
                          </a:solidFill>
                          <a:latin typeface="Arial"/>
                        </a:rPr>
                        <a:t>Partly</a:t>
                      </a:r>
                    </a:p>
                  </a:txBody>
                  <a:tcPr marL="128016" marT="45720" marB="45720" anchor="ctr">
                    <a:solidFill>
                      <a:srgbClr val="0E203A"/>
                    </a:solidFill>
                  </a:tcPr>
                </a:tc>
                <a:tc>
                  <a:txBody>
                    <a:bodyPr/>
                    <a:lstStyle/>
                    <a:p>
                      <a:r>
                        <a:rPr sz="1250" b="1">
                          <a:solidFill>
                            <a:srgbClr val="80C8EE"/>
                          </a:solidFill>
                          <a:latin typeface="Arial"/>
                        </a:rPr>
                        <a:t>Fully</a:t>
                      </a:r>
                    </a:p>
                  </a:txBody>
                  <a:tcPr marL="128016" marT="45720" marB="45720" anchor="ctr">
                    <a:solidFill>
                      <a:srgbClr val="0E203A"/>
                    </a:solidFill>
                  </a:tcPr>
                </a:tc>
              </a:tr>
              <a:tr h="533400">
                <a:tc>
                  <a:txBody>
                    <a:bodyPr/>
                    <a:lstStyle/>
                    <a:p>
                      <a:r>
                        <a:rPr sz="1250">
                          <a:solidFill>
                            <a:srgbClr val="A5B4C9"/>
                          </a:solidFill>
                          <a:latin typeface="Arial"/>
                        </a:rPr>
                        <a:t>Grows with new phases</a:t>
                      </a:r>
                    </a:p>
                  </a:txBody>
                  <a:tcPr marL="128016" marT="45720" marB="45720" anchor="ctr">
                    <a:solidFill>
                      <a:srgbClr val="112440"/>
                    </a:solidFill>
                  </a:tcPr>
                </a:tc>
                <a:tc>
                  <a:txBody>
                    <a:bodyPr/>
                    <a:lstStyle/>
                    <a:p>
                      <a:r>
                        <a:rPr sz="1250">
                          <a:solidFill>
                            <a:srgbClr val="8A9CB4"/>
                          </a:solidFill>
                          <a:latin typeface="Arial"/>
                        </a:rPr>
                        <a:t>Limited</a:t>
                      </a:r>
                    </a:p>
                  </a:txBody>
                  <a:tcPr marL="128016" marT="45720" marB="45720" anchor="ctr">
                    <a:solidFill>
                      <a:srgbClr val="112440"/>
                    </a:solidFill>
                  </a:tcPr>
                </a:tc>
                <a:tc>
                  <a:txBody>
                    <a:bodyPr/>
                    <a:lstStyle/>
                    <a:p>
                      <a:r>
                        <a:rPr sz="1250" b="1">
                          <a:solidFill>
                            <a:srgbClr val="80C8EE"/>
                          </a:solidFill>
                          <a:latin typeface="Arial"/>
                        </a:rPr>
                        <a:t>Built in</a:t>
                      </a:r>
                    </a:p>
                  </a:txBody>
                  <a:tcPr marL="128016" marT="45720" marB="45720" anchor="ctr">
                    <a:solidFill>
                      <a:srgbClr val="112440"/>
                    </a:solidFill>
                  </a:tcPr>
                </a:tc>
              </a:tr>
              <a:tr h="533400">
                <a:tc>
                  <a:txBody>
                    <a:bodyPr/>
                    <a:lstStyle/>
                    <a:p>
                      <a:r>
                        <a:rPr sz="1250">
                          <a:solidFill>
                            <a:srgbClr val="A5B4C9"/>
                          </a:solidFill>
                          <a:latin typeface="Arial"/>
                        </a:rPr>
                        <a:t>Who owns the information</a:t>
                      </a:r>
                    </a:p>
                  </a:txBody>
                  <a:tcPr marL="128016" marT="45720" marB="45720" anchor="ctr">
                    <a:solidFill>
                      <a:srgbClr val="0E203A"/>
                    </a:solidFill>
                  </a:tcPr>
                </a:tc>
                <a:tc>
                  <a:txBody>
                    <a:bodyPr/>
                    <a:lstStyle/>
                    <a:p>
                      <a:r>
                        <a:rPr sz="1250">
                          <a:solidFill>
                            <a:srgbClr val="8A9CB4"/>
                          </a:solidFill>
                          <a:latin typeface="Arial"/>
                        </a:rPr>
                        <a:t>The vendor</a:t>
                      </a:r>
                    </a:p>
                  </a:txBody>
                  <a:tcPr marL="128016" marT="45720" marB="45720" anchor="ctr">
                    <a:solidFill>
                      <a:srgbClr val="0E203A"/>
                    </a:solidFill>
                  </a:tcPr>
                </a:tc>
                <a:tc>
                  <a:txBody>
                    <a:bodyPr/>
                    <a:lstStyle/>
                    <a:p>
                      <a:r>
                        <a:rPr sz="1250" b="1">
                          <a:solidFill>
                            <a:srgbClr val="80C8EE"/>
                          </a:solidFill>
                          <a:latin typeface="Arial"/>
                        </a:rPr>
                        <a:t>Client + T&amp;T</a:t>
                      </a:r>
                    </a:p>
                  </a:txBody>
                  <a:tcPr marL="128016" marT="45720" marB="45720" anchor="ctr">
                    <a:solidFill>
                      <a:srgbClr val="0E203A"/>
                    </a:solidFill>
                  </a:tcPr>
                </a:tc>
              </a:tr>
              <a:tr h="533400">
                <a:tc>
                  <a:txBody>
                    <a:bodyPr/>
                    <a:lstStyle/>
                    <a:p>
                      <a:r>
                        <a:rPr sz="1250">
                          <a:solidFill>
                            <a:srgbClr val="A5B4C9"/>
                          </a:solidFill>
                          <a:latin typeface="Arial"/>
                        </a:rPr>
                        <a:t>Cost to license</a:t>
                      </a:r>
                    </a:p>
                  </a:txBody>
                  <a:tcPr marL="128016" marT="45720" marB="45720" anchor="ctr">
                    <a:solidFill>
                      <a:srgbClr val="112440"/>
                    </a:solidFill>
                  </a:tcPr>
                </a:tc>
                <a:tc>
                  <a:txBody>
                    <a:bodyPr/>
                    <a:lstStyle/>
                    <a:p>
                      <a:r>
                        <a:rPr sz="1250">
                          <a:solidFill>
                            <a:srgbClr val="8A9CB4"/>
                          </a:solidFill>
                          <a:latin typeface="Arial"/>
                        </a:rPr>
                        <a:t>High, year after year</a:t>
                      </a:r>
                    </a:p>
                  </a:txBody>
                  <a:tcPr marL="128016" marT="45720" marB="45720" anchor="ctr">
                    <a:solidFill>
                      <a:srgbClr val="112440"/>
                    </a:solidFill>
                  </a:tcPr>
                </a:tc>
                <a:tc>
                  <a:txBody>
                    <a:bodyPr/>
                    <a:lstStyle/>
                    <a:p>
                      <a:r>
                        <a:rPr sz="1250" b="1">
                          <a:solidFill>
                            <a:srgbClr val="80C8EE"/>
                          </a:solidFill>
                          <a:latin typeface="Arial"/>
                        </a:rPr>
                        <a:t>Saved — it's ours</a:t>
                      </a:r>
                    </a:p>
                  </a:txBody>
                  <a:tcPr marL="128016" marT="45720" marB="45720" anchor="ctr">
                    <a:solidFill>
                      <a:srgbClr val="112440"/>
                    </a:solidFill>
                  </a:tcPr>
                </a:tc>
              </a:tr>
            </a:tbl>
          </a:graphicData>
        </a:graphic>
      </p:graphicFrame>
      <p:sp>
        <p:nvSpPr>
          <p:cNvPr id="5" name="Rounded Rectangle 4"/>
          <p:cNvSpPr/>
          <p:nvPr/>
        </p:nvSpPr>
        <p:spPr>
          <a:xfrm>
            <a:off x="8778240" y="2240280"/>
            <a:ext cx="2560320" cy="3200400"/>
          </a:xfrm>
          <a:prstGeom prst="roundRect">
            <a:avLst>
              <a:gd name="adj" fmla="val 9000"/>
            </a:avLst>
          </a:prstGeom>
          <a:solidFill>
            <a:srgbClr val="142E54"/>
          </a:solidFill>
          <a:ln w="15875">
            <a:solidFill>
              <a:srgbClr val="0090DC"/>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800"/>
              </a:spcAft>
            </a:pPr>
            <a:r>
              <a:rPr sz="1100" b="1" i="0">
                <a:solidFill>
                  <a:srgbClr val="80C8EE"/>
                </a:solidFill>
                <a:latin typeface="Arial"/>
              </a:rPr>
              <a:t>THE MARGIN STORY</a:t>
            </a:r>
          </a:p>
          <a:p>
            <a:pPr algn="l">
              <a:spcBef>
                <a:spcPts val="0"/>
              </a:spcBef>
              <a:spcAft>
                <a:spcPts val="800"/>
              </a:spcAft>
            </a:pPr>
            <a:r>
              <a:rPr sz="1450" b="1" i="0">
                <a:solidFill>
                  <a:srgbClr val="FFFFFF"/>
                </a:solidFill>
                <a:latin typeface="Arial"/>
              </a:rPr>
              <a:t>We build the platform → savings for the client → a stronger margin for T&amp;T.</a:t>
            </a:r>
          </a:p>
          <a:p>
            <a:pPr algn="l">
              <a:spcBef>
                <a:spcPts val="0"/>
              </a:spcBef>
              <a:spcAft>
                <a:spcPts val="0"/>
              </a:spcAft>
            </a:pPr>
            <a:r>
              <a:rPr sz="1250" b="0" i="0">
                <a:solidFill>
                  <a:srgbClr val="A5B4C9"/>
                </a:solidFill>
                <a:latin typeface="Arial"/>
              </a:rPr>
              <a:t>It works on any project and grows with it. The savings we create are the value we keep.</a:t>
            </a:r>
          </a:p>
        </p:txBody>
      </p:sp>
      <p:sp>
        <p:nvSpPr>
          <p:cNvPr id="6" name="TextBox 5"/>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A5B4C9"/>
                </a:solidFill>
                <a:latin typeface="Arial"/>
              </a:rPr>
              <a:t>Turner &amp; Townsend    ·    ODATA QR03    ·    Confidential</a:t>
            </a:r>
          </a:p>
        </p:txBody>
      </p:sp>
      <p:sp>
        <p:nvSpPr>
          <p:cNvPr id="7" name="TextBox 6"/>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A5B4C9"/>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EEE7"/>
        </a:solidFill>
        <a:effectLst/>
      </p:bgPr>
    </p:bg>
    <p:spTree>
      <p:nvGrpSpPr>
        <p:cNvPr id="1" name=""/>
        <p:cNvGrpSpPr/>
        <p:nvPr/>
      </p:nvGrpSpPr>
      <p:grpSpPr/>
      <p:sp>
        <p:nvSpPr>
          <p:cNvPr id="2" name="TextBox 1"/>
          <p:cNvSpPr txBox="1"/>
          <p:nvPr/>
        </p:nvSpPr>
        <p:spPr>
          <a:xfrm>
            <a:off x="822960" y="713232"/>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0090DC"/>
                </a:solidFill>
                <a:latin typeface="Arial"/>
              </a:rPr>
              <a:t>FOCUS 4  ·  TRY IT YOURSELF</a:t>
            </a:r>
          </a:p>
        </p:txBody>
      </p:sp>
      <p:sp>
        <p:nvSpPr>
          <p:cNvPr id="3" name="TextBox 2"/>
          <p:cNvSpPr txBox="1"/>
          <p:nvPr/>
        </p:nvSpPr>
        <p:spPr>
          <a:xfrm>
            <a:off x="822960" y="1097280"/>
            <a:ext cx="6400800" cy="822960"/>
          </a:xfrm>
          <a:prstGeom prst="rect">
            <a:avLst/>
          </a:prstGeom>
          <a:noFill/>
        </p:spPr>
        <p:txBody>
          <a:bodyPr wrap="square" anchor="t" lIns="0" rIns="0" tIns="0" bIns="0">
            <a:spAutoFit/>
          </a:bodyPr>
          <a:lstStyle/>
          <a:p>
            <a:pPr algn="l">
              <a:spcBef>
                <a:spcPts val="0"/>
              </a:spcBef>
              <a:spcAft>
                <a:spcPts val="400"/>
              </a:spcAft>
            </a:pPr>
            <a:r>
              <a:rPr sz="3600" b="1" i="0">
                <a:solidFill>
                  <a:srgbClr val="182A40"/>
                </a:solidFill>
                <a:latin typeface="Arial"/>
              </a:rPr>
              <a:t>See it for yourself</a:t>
            </a:r>
          </a:p>
        </p:txBody>
      </p:sp>
      <p:sp>
        <p:nvSpPr>
          <p:cNvPr id="4" name="TextBox 3"/>
          <p:cNvSpPr txBox="1"/>
          <p:nvPr/>
        </p:nvSpPr>
        <p:spPr>
          <a:xfrm>
            <a:off x="822960" y="2148840"/>
            <a:ext cx="6126480" cy="2011680"/>
          </a:xfrm>
          <a:prstGeom prst="rect">
            <a:avLst/>
          </a:prstGeom>
          <a:noFill/>
        </p:spPr>
        <p:txBody>
          <a:bodyPr wrap="square" anchor="t" lIns="0" rIns="0" tIns="0" bIns="0">
            <a:spAutoFit/>
          </a:bodyPr>
          <a:lstStyle/>
          <a:p>
            <a:pPr algn="l">
              <a:spcBef>
                <a:spcPts val="0"/>
              </a:spcBef>
              <a:spcAft>
                <a:spcPts val="400"/>
              </a:spcAft>
            </a:pPr>
            <a:r>
              <a:rPr sz="1600" b="0" i="0">
                <a:solidFill>
                  <a:srgbClr val="4B6994"/>
                </a:solidFill>
                <a:latin typeface="Arial"/>
              </a:rPr>
              <a:t>The screens already exist. They're not plugged into live data yet — but they're real, and they're in your hands. Take a laptop and click through it. This beats any promise on a slide.</a:t>
            </a:r>
          </a:p>
        </p:txBody>
      </p:sp>
      <p:sp>
        <p:nvSpPr>
          <p:cNvPr id="5" name="Rounded Rectangle 4"/>
          <p:cNvSpPr/>
          <p:nvPr/>
        </p:nvSpPr>
        <p:spPr>
          <a:xfrm>
            <a:off x="822960" y="4297680"/>
            <a:ext cx="2103120" cy="502920"/>
          </a:xfrm>
          <a:prstGeom prst="roundRect">
            <a:avLst>
              <a:gd name="adj" fmla="val 40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ctr">
              <a:spcBef>
                <a:spcPts val="0"/>
              </a:spcBef>
              <a:spcAft>
                <a:spcPts val="400"/>
              </a:spcAft>
            </a:pPr>
            <a:r>
              <a:rPr sz="1250" b="1" i="0">
                <a:solidFill>
                  <a:srgbClr val="3FA36B"/>
                </a:solidFill>
                <a:latin typeface="Arial"/>
              </a:rPr>
              <a:t>Real screens</a:t>
            </a:r>
          </a:p>
        </p:txBody>
      </p:sp>
      <p:sp>
        <p:nvSpPr>
          <p:cNvPr id="6" name="Rounded Rectangle 5"/>
          <p:cNvSpPr/>
          <p:nvPr/>
        </p:nvSpPr>
        <p:spPr>
          <a:xfrm>
            <a:off x="3063240" y="4297680"/>
            <a:ext cx="2103120" cy="502920"/>
          </a:xfrm>
          <a:prstGeom prst="roundRect">
            <a:avLst>
              <a:gd name="adj" fmla="val 40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ctr">
              <a:spcBef>
                <a:spcPts val="0"/>
              </a:spcBef>
              <a:spcAft>
                <a:spcPts val="400"/>
              </a:spcAft>
            </a:pPr>
            <a:r>
              <a:rPr sz="1250" b="1" i="0">
                <a:solidFill>
                  <a:srgbClr val="B8861E"/>
                </a:solidFill>
                <a:latin typeface="Arial"/>
              </a:rPr>
              <a:t>Not yet live</a:t>
            </a:r>
          </a:p>
        </p:txBody>
      </p:sp>
      <p:sp>
        <p:nvSpPr>
          <p:cNvPr id="7" name="Rounded Rectangle 6"/>
          <p:cNvSpPr/>
          <p:nvPr/>
        </p:nvSpPr>
        <p:spPr>
          <a:xfrm>
            <a:off x="7315200" y="2011680"/>
            <a:ext cx="4023360" cy="3200400"/>
          </a:xfrm>
          <a:prstGeom prst="roundRect">
            <a:avLst>
              <a:gd name="adj" fmla="val 9000"/>
            </a:avLst>
          </a:prstGeom>
          <a:solidFill>
            <a:srgbClr val="1E44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600"/>
              </a:spcAft>
            </a:pPr>
            <a:r>
              <a:rPr sz="1400" b="0" i="0">
                <a:solidFill>
                  <a:srgbClr val="A5B4C9"/>
                </a:solidFill>
                <a:latin typeface="Arial"/>
              </a:rPr>
              <a:t>[ live interactive mock-up ]</a:t>
            </a:r>
          </a:p>
          <a:p>
            <a:pPr algn="l">
              <a:spcBef>
                <a:spcPts val="0"/>
              </a:spcBef>
              <a:spcAft>
                <a:spcPts val="0"/>
              </a:spcAft>
            </a:pPr>
            <a:r>
              <a:rPr sz="1100" b="0" i="0">
                <a:solidFill>
                  <a:srgbClr val="6E86A6"/>
                </a:solidFill>
                <a:latin typeface="Arial"/>
              </a:rPr>
              <a:t>d3x.biz/odata — hand out the laptops</a:t>
            </a:r>
          </a:p>
        </p:txBody>
      </p:sp>
      <p:sp>
        <p:nvSpPr>
          <p:cNvPr id="8" name="TextBox 7"/>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4B6994"/>
                </a:solidFill>
                <a:latin typeface="Arial"/>
              </a:rPr>
              <a:t>Turner &amp; Townsend    ·    ODATA QR03    ·    Confidential</a:t>
            </a:r>
          </a:p>
        </p:txBody>
      </p:sp>
      <p:sp>
        <p:nvSpPr>
          <p:cNvPr id="9" name="TextBox 8"/>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4B699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4479"/>
        </a:solidFill>
        <a:effectLst/>
      </p:bgPr>
    </p:bg>
    <p:spTree>
      <p:nvGrpSpPr>
        <p:cNvPr id="1" name=""/>
        <p:cNvGrpSpPr/>
        <p:nvPr/>
      </p:nvGrpSpPr>
      <p:grpSpPr/>
      <p:sp>
        <p:nvSpPr>
          <p:cNvPr id="2" name="TextBox 1"/>
          <p:cNvSpPr txBox="1"/>
          <p:nvPr/>
        </p:nvSpPr>
        <p:spPr>
          <a:xfrm>
            <a:off x="822960" y="658368"/>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80C8EE"/>
                </a:solidFill>
                <a:latin typeface="Arial"/>
              </a:rPr>
              <a:t>THE PATH  ·  4 TO 6 MONTHS</a:t>
            </a:r>
          </a:p>
        </p:txBody>
      </p:sp>
      <p:sp>
        <p:nvSpPr>
          <p:cNvPr id="3" name="TextBox 2"/>
          <p:cNvSpPr txBox="1"/>
          <p:nvPr/>
        </p:nvSpPr>
        <p:spPr>
          <a:xfrm>
            <a:off x="822960" y="1005840"/>
            <a:ext cx="10515600" cy="822960"/>
          </a:xfrm>
          <a:prstGeom prst="rect">
            <a:avLst/>
          </a:prstGeom>
          <a:noFill/>
        </p:spPr>
        <p:txBody>
          <a:bodyPr wrap="square" anchor="t" lIns="0" rIns="0" tIns="0" bIns="0">
            <a:spAutoFit/>
          </a:bodyPr>
          <a:lstStyle/>
          <a:p>
            <a:pPr algn="l">
              <a:spcBef>
                <a:spcPts val="0"/>
              </a:spcBef>
              <a:spcAft>
                <a:spcPts val="400"/>
              </a:spcAft>
            </a:pPr>
            <a:r>
              <a:rPr sz="3200" b="1" i="0">
                <a:solidFill>
                  <a:srgbClr val="FFFFFF"/>
                </a:solidFill>
                <a:latin typeface="Arial"/>
              </a:rPr>
              <a:t>Ready the day your next stage begins</a:t>
            </a:r>
          </a:p>
        </p:txBody>
      </p:sp>
      <p:sp>
        <p:nvSpPr>
          <p:cNvPr id="4" name="TextBox 3"/>
          <p:cNvSpPr txBox="1"/>
          <p:nvPr/>
        </p:nvSpPr>
        <p:spPr>
          <a:xfrm>
            <a:off x="822960" y="1874519"/>
            <a:ext cx="10424160" cy="640080"/>
          </a:xfrm>
          <a:prstGeom prst="rect">
            <a:avLst/>
          </a:prstGeom>
          <a:noFill/>
        </p:spPr>
        <p:txBody>
          <a:bodyPr wrap="square" anchor="t" lIns="0" rIns="0" tIns="0" bIns="0">
            <a:spAutoFit/>
          </a:bodyPr>
          <a:lstStyle/>
          <a:p>
            <a:pPr algn="l">
              <a:spcBef>
                <a:spcPts val="0"/>
              </a:spcBef>
              <a:spcAft>
                <a:spcPts val="400"/>
              </a:spcAft>
            </a:pPr>
            <a:r>
              <a:rPr sz="1400" b="0" i="0">
                <a:solidFill>
                  <a:srgbClr val="A5B4C9"/>
                </a:solidFill>
                <a:latin typeface="Arial"/>
              </a:rPr>
              <a:t>Your next construction stage is about three months out. Two months to design and build means the platform is live the day it starts — and fully embedded by month six.</a:t>
            </a:r>
          </a:p>
        </p:txBody>
      </p:sp>
      <p:sp>
        <p:nvSpPr>
          <p:cNvPr id="5" name="Rounded Rectangle 4"/>
          <p:cNvSpPr/>
          <p:nvPr/>
        </p:nvSpPr>
        <p:spPr>
          <a:xfrm>
            <a:off x="822960" y="2743200"/>
            <a:ext cx="3410712" cy="2788920"/>
          </a:xfrm>
          <a:prstGeom prst="roundRect">
            <a:avLst>
              <a:gd name="adj" fmla="val 9000"/>
            </a:avLst>
          </a:prstGeom>
          <a:solidFill>
            <a:srgbClr val="142E54"/>
          </a:solidFill>
          <a:ln w="12700">
            <a:solidFill>
              <a:srgbClr val="1E4479"/>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50" b="1" i="0">
                <a:solidFill>
                  <a:srgbClr val="80C8EE"/>
                </a:solidFill>
                <a:latin typeface="Arial"/>
              </a:rPr>
              <a:t>MONTHS 1–2</a:t>
            </a:r>
          </a:p>
          <a:p>
            <a:pPr algn="l">
              <a:spcBef>
                <a:spcPts val="0"/>
              </a:spcBef>
              <a:spcAft>
                <a:spcPts val="800"/>
              </a:spcAft>
            </a:pPr>
            <a:r>
              <a:rPr sz="1700" b="1" i="0">
                <a:solidFill>
                  <a:srgbClr val="FFFFFF"/>
                </a:solidFill>
                <a:latin typeface="Arial"/>
              </a:rPr>
              <a:t>Design &amp; build</a:t>
            </a:r>
          </a:p>
          <a:p>
            <a:pPr algn="l">
              <a:spcBef>
                <a:spcPts val="0"/>
              </a:spcBef>
              <a:spcAft>
                <a:spcPts val="0"/>
              </a:spcAft>
            </a:pPr>
            <a:r>
              <a:rPr sz="1250" b="0" i="0">
                <a:solidFill>
                  <a:srgbClr val="A5B4C9"/>
                </a:solidFill>
                <a:latin typeface="Arial"/>
              </a:rPr>
              <a:t>Connect the mock-up to live data and build the core — one request desk, one source of truth, first dashboards. A working platform on real data.</a:t>
            </a:r>
          </a:p>
        </p:txBody>
      </p:sp>
      <p:sp>
        <p:nvSpPr>
          <p:cNvPr id="6" name="Rounded Rectangle 5"/>
          <p:cNvSpPr/>
          <p:nvPr/>
        </p:nvSpPr>
        <p:spPr>
          <a:xfrm>
            <a:off x="4416552" y="2743200"/>
            <a:ext cx="3410712" cy="2788920"/>
          </a:xfrm>
          <a:prstGeom prst="roundRect">
            <a:avLst>
              <a:gd name="adj" fmla="val 9000"/>
            </a:avLst>
          </a:prstGeom>
          <a:solidFill>
            <a:srgbClr val="142E54"/>
          </a:solidFill>
          <a:ln w="19050">
            <a:solidFill>
              <a:srgbClr val="0090DC"/>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50" b="1" i="0">
                <a:solidFill>
                  <a:srgbClr val="80C8EE"/>
                </a:solidFill>
                <a:latin typeface="Arial"/>
              </a:rPr>
              <a:t>MONTH 3  ·  THE ANCHOR</a:t>
            </a:r>
          </a:p>
          <a:p>
            <a:pPr algn="l">
              <a:spcBef>
                <a:spcPts val="0"/>
              </a:spcBef>
              <a:spcAft>
                <a:spcPts val="800"/>
              </a:spcAft>
            </a:pPr>
            <a:r>
              <a:rPr sz="1700" b="1" i="0">
                <a:solidFill>
                  <a:srgbClr val="FFFFFF"/>
                </a:solidFill>
                <a:latin typeface="Arial"/>
              </a:rPr>
              <a:t>Go live with the new stage</a:t>
            </a:r>
          </a:p>
          <a:p>
            <a:pPr algn="l">
              <a:spcBef>
                <a:spcPts val="0"/>
              </a:spcBef>
              <a:spcAft>
                <a:spcPts val="0"/>
              </a:spcAft>
            </a:pPr>
            <a:r>
              <a:rPr sz="1250" b="0" i="0">
                <a:solidFill>
                  <a:srgbClr val="A5B4C9"/>
                </a:solidFill>
                <a:latin typeface="Arial"/>
              </a:rPr>
              <a:t>The next construction stage begins — and the platform is its backbone from day one. A clean start, each team trained as they pick it up.</a:t>
            </a:r>
          </a:p>
        </p:txBody>
      </p:sp>
      <p:sp>
        <p:nvSpPr>
          <p:cNvPr id="7" name="Rounded Rectangle 6"/>
          <p:cNvSpPr/>
          <p:nvPr/>
        </p:nvSpPr>
        <p:spPr>
          <a:xfrm>
            <a:off x="8010144" y="2743200"/>
            <a:ext cx="3410712" cy="2788920"/>
          </a:xfrm>
          <a:prstGeom prst="roundRect">
            <a:avLst>
              <a:gd name="adj" fmla="val 9000"/>
            </a:avLst>
          </a:prstGeom>
          <a:solidFill>
            <a:srgbClr val="142E54"/>
          </a:solidFill>
          <a:ln w="12700">
            <a:solidFill>
              <a:srgbClr val="1E4479"/>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50" b="1" i="0">
                <a:solidFill>
                  <a:srgbClr val="80C8EE"/>
                </a:solidFill>
                <a:latin typeface="Arial"/>
              </a:rPr>
              <a:t>MONTHS 4–6</a:t>
            </a:r>
          </a:p>
          <a:p>
            <a:pPr algn="l">
              <a:spcBef>
                <a:spcPts val="0"/>
              </a:spcBef>
              <a:spcAft>
                <a:spcPts val="800"/>
              </a:spcAft>
            </a:pPr>
            <a:r>
              <a:rPr sz="1700" b="1" i="0">
                <a:solidFill>
                  <a:srgbClr val="FFFFFF"/>
                </a:solidFill>
                <a:latin typeface="Arial"/>
              </a:rPr>
              <a:t>Embed day-to-day</a:t>
            </a:r>
          </a:p>
          <a:p>
            <a:pPr algn="l">
              <a:spcBef>
                <a:spcPts val="0"/>
              </a:spcBef>
              <a:spcAft>
                <a:spcPts val="0"/>
              </a:spcAft>
            </a:pPr>
            <a:r>
              <a:rPr sz="1250" b="0" i="0">
                <a:solidFill>
                  <a:srgbClr val="A5B4C9"/>
                </a:solidFill>
                <a:latin typeface="Arial"/>
              </a:rPr>
              <a:t>Team by team until it runs the daily reporting for all eight — reconciliation and KPIs keeping themselves up to date. Full adoption.</a:t>
            </a:r>
          </a:p>
        </p:txBody>
      </p:sp>
      <p:sp>
        <p:nvSpPr>
          <p:cNvPr id="8" name="TextBox 7"/>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A5B4C9"/>
                </a:solidFill>
                <a:latin typeface="Arial"/>
              </a:rPr>
              <a:t>Turner &amp; Townsend    ·    ODATA QR03    ·    Confidential</a:t>
            </a:r>
          </a:p>
        </p:txBody>
      </p:sp>
      <p:sp>
        <p:nvSpPr>
          <p:cNvPr id="9" name="TextBox 8"/>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A5B4C9"/>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4479"/>
        </a:solidFill>
        <a:effectLst/>
      </p:bgPr>
    </p:bg>
    <p:spTree>
      <p:nvGrpSpPr>
        <p:cNvPr id="1" name=""/>
        <p:cNvGrpSpPr/>
        <p:nvPr/>
      </p:nvGrpSpPr>
      <p:grpSpPr/>
      <p:sp>
        <p:nvSpPr>
          <p:cNvPr id="2" name="Rounded Rectangle 1"/>
          <p:cNvSpPr/>
          <p:nvPr/>
        </p:nvSpPr>
        <p:spPr>
          <a:xfrm>
            <a:off x="0" y="0"/>
            <a:ext cx="12191695" cy="146304"/>
          </a:xfrm>
          <a:prstGeom prst="roundRect">
            <a:avLst>
              <a:gd name="adj" fmla="val 0"/>
            </a:avLst>
          </a:prstGeom>
          <a:solidFill>
            <a:srgbClr val="009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48840"/>
            <a:ext cx="10515600" cy="914400"/>
          </a:xfrm>
          <a:prstGeom prst="rect">
            <a:avLst/>
          </a:prstGeom>
          <a:noFill/>
        </p:spPr>
        <p:txBody>
          <a:bodyPr wrap="square" anchor="t" lIns="0" rIns="0" tIns="0" bIns="0">
            <a:spAutoFit/>
          </a:bodyPr>
          <a:lstStyle/>
          <a:p>
            <a:pPr algn="l">
              <a:spcBef>
                <a:spcPts val="0"/>
              </a:spcBef>
              <a:spcAft>
                <a:spcPts val="400"/>
              </a:spcAft>
            </a:pPr>
            <a:r>
              <a:rPr sz="2000" b="1" i="0">
                <a:solidFill>
                  <a:srgbClr val="80C8EE"/>
                </a:solidFill>
                <a:latin typeface="Arial"/>
              </a:rPr>
              <a:t>What we're asking the board</a:t>
            </a:r>
          </a:p>
        </p:txBody>
      </p:sp>
      <p:sp>
        <p:nvSpPr>
          <p:cNvPr id="4" name="TextBox 3"/>
          <p:cNvSpPr txBox="1"/>
          <p:nvPr/>
        </p:nvSpPr>
        <p:spPr>
          <a:xfrm>
            <a:off x="822960" y="2880360"/>
            <a:ext cx="10241280" cy="1828800"/>
          </a:xfrm>
          <a:prstGeom prst="rect">
            <a:avLst/>
          </a:prstGeom>
          <a:noFill/>
        </p:spPr>
        <p:txBody>
          <a:bodyPr wrap="square" anchor="t" lIns="0" rIns="0" tIns="0" bIns="0">
            <a:spAutoFit/>
          </a:bodyPr>
          <a:lstStyle/>
          <a:p>
            <a:pPr algn="l">
              <a:spcBef>
                <a:spcPts val="0"/>
              </a:spcBef>
              <a:spcAft>
                <a:spcPts val="400"/>
              </a:spcAft>
            </a:pPr>
            <a:r>
              <a:rPr sz="3200" b="1" i="0">
                <a:solidFill>
                  <a:srgbClr val="FFFFFF"/>
                </a:solidFill>
                <a:latin typeface="Arial"/>
              </a:rPr>
              <a:t>The green light to start building now, so the platform is live the day the new stage begins.</a:t>
            </a:r>
          </a:p>
        </p:txBody>
      </p:sp>
      <p:sp>
        <p:nvSpPr>
          <p:cNvPr id="5" name="TextBox 4"/>
          <p:cNvSpPr txBox="1"/>
          <p:nvPr/>
        </p:nvSpPr>
        <p:spPr>
          <a:xfrm>
            <a:off x="822960" y="5943600"/>
            <a:ext cx="10515600" cy="457200"/>
          </a:xfrm>
          <a:prstGeom prst="rect">
            <a:avLst/>
          </a:prstGeom>
          <a:noFill/>
        </p:spPr>
        <p:txBody>
          <a:bodyPr wrap="square" anchor="t" lIns="0" rIns="0" tIns="0" bIns="0">
            <a:spAutoFit/>
          </a:bodyPr>
          <a:lstStyle/>
          <a:p>
            <a:r>
              <a:rPr sz="1500" b="1">
                <a:solidFill>
                  <a:srgbClr val="FFFFFF"/>
                </a:solidFill>
                <a:latin typeface="Arial"/>
              </a:rPr>
              <a:t>Turner &amp; Townsend</a:t>
            </a:r>
            <a:r>
              <a:rPr sz="1200">
                <a:solidFill>
                  <a:srgbClr val="A5B4C9"/>
                </a:solidFill>
                <a:latin typeface="Arial"/>
              </a:rPr>
              <a:t>      ·      ODATA QR03  ·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